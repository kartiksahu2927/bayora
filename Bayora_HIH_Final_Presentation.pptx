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10287000" cx="18288000"/>
  <p:notesSz cx="6858000" cy="9144000"/>
  <p:embeddedFontLst>
    <p:embeddedFont>
      <p:font typeface="IBM Plex Sans"/>
      <p:bold r:id="rId14"/>
      <p:boldItalic r:id="rId15"/>
    </p:embeddedFont>
    <p:embeddedFont>
      <p:font typeface="Caveat"/>
      <p:regular r:id="rId16"/>
      <p:bold r:id="rId17"/>
    </p:embeddedFont>
    <p:embeddedFont>
      <p:font typeface="Montserrat"/>
      <p:bold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BMPlexSans-boldItalic.fntdata"/><Relationship Id="rId14" Type="http://schemas.openxmlformats.org/officeDocument/2006/relationships/font" Target="fonts/IBMPlexSans-bold.fntdata"/><Relationship Id="rId17" Type="http://schemas.openxmlformats.org/officeDocument/2006/relationships/font" Target="fonts/Caveat-bold.fntdata"/><Relationship Id="rId16" Type="http://schemas.openxmlformats.org/officeDocument/2006/relationships/font" Target="fonts/Caveat-regular.fntdata"/><Relationship Id="rId5" Type="http://schemas.openxmlformats.org/officeDocument/2006/relationships/notesMaster" Target="notesMasters/notesMaster1.xml"/><Relationship Id="rId19" Type="http://schemas.openxmlformats.org/officeDocument/2006/relationships/font" Target="fonts/Montserrat-boldItalic.fntdata"/><Relationship Id="rId6" Type="http://schemas.openxmlformats.org/officeDocument/2006/relationships/slide" Target="slides/slide1.xml"/><Relationship Id="rId18" Type="http://schemas.openxmlformats.org/officeDocument/2006/relationships/font" Target="fonts/Montserrat-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BAYORA is the proposed project name. Team identities, team name, and member roles were not present in the supplied project materials, so editable placeholders are intentionally retained. Replace these before submission.</a:t>
            </a: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Bayora is proposed for the gap between experimentation and accountable AI security review. OWASP's LLM01:2025 Prompt Injection page describes how crafted or embedded instructions can alter model behavior and contribute to data disclosure or unsafe actions: https://genai.owasp.org/llmrisk/llm01-prompt-injection/ . NIST's AI RMF provides a voluntary governance structure across design, development, use, and evaluation, with a Generative AI Profile released in 2024: https://www.nist.gov/itl/ai-risk-management-framework . No official HIH theme or judging rubric was found in the supplied project materials; alignment wording is intentionally cautious.</a:t>
            </a:r>
            <a:endParaRPr/>
          </a:p>
        </p:txBody>
      </p:sp>
      <p:sp>
        <p:nvSpPr>
          <p:cNvPr id="92" name="Google Shape;9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Bayora proposes to help authorized security professionals and AI developers probe model behavior, preserve evidence, and review findings in context. Planned capabilities include scoped adversarial assessments, role-aware Red/Blue workflows, evidence and provenance, evaluation history, and oversight. The differentiator is the intended end-to-end chain from test design to review - not a claim that Bayora is the first or only AI security platform.</a:t>
            </a:r>
            <a:endParaRPr/>
          </a:p>
        </p:txBody>
      </p:sp>
      <p:sp>
        <p:nvSpPr>
          <p:cNvPr id="101" name="Google Shape;10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Proposed architecture: the browser sends an authorized assessment request to a backend control plane; policy checks determine scope; an isolated evaluation boundary interacts with a selected model/provider; findings and evidence move to a tenant-aware store and an audit trail. TinyFish is a planned optional research integration for approved public sources, not a claim of completed work in this idea-stage deck.</a:t>
            </a:r>
            <a:endParaRPr/>
          </a:p>
        </p:txBody>
      </p:sp>
      <p:sp>
        <p:nvSpPr>
          <p:cNvPr id="110" name="Google Shape;11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users: AI developers, AI security researchers, enterprise security teams, and organizations evaluating AI-enabled applications. Grand View Research reports an AI governance market estimate of USD 308.3M in 2025 and a 36.0% CAGR forecast for 2026-2033; this is third-party category context, not Bayora's serviceable market or a guaranteed forecast: https://www.grandviewresearch.com/industry-analysis/ai-governance-market-report . Proposed business models include an accessible community edition, paid team/enterprise capabilities, and managed assessment services. No Bayora revenue, customer, or adoption claims are made.</a:t>
            </a:r>
            <a:endParaRPr/>
          </a:p>
        </p:txBody>
      </p:sp>
      <p:sp>
        <p:nvSpPr>
          <p:cNvPr id="119" name="Google Shape;11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proposed MVP prioritizes the smallest valuable loop: define an authorized test, run it against a selected AI system, capture findings and provenance, and enable review. Later phases can add more model/provider adapters, mappings to NIST and MITRE ATLAS, enterprise identity and integrations, collaboration, reproducible benchmarks, and scalable multi-organization use. Mobile delivery is not treated as a priority because Bayora's primary users are security and engineering teams.</a:t>
            </a:r>
            <a:endParaRPr/>
          </a:p>
        </p:txBody>
      </p:sp>
      <p:sp>
        <p:nvSpPr>
          <p:cNvPr id="128" name="Google Shape;12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proposed safety posture is fail-closed: authorization and source policy remain in Bayora; retrieved web content is untrusted data and cannot change permissions, policy, or audit history; evidence remains attributable to a source and is explicitly unverified until a reviewer checks it. References: OWASP GenAI Security Project LLM01:2025 Prompt Injection https://genai.owasp.org/llmrisk/llm01-prompt-injection/ ; NIST AI RMF https://www.nist.gov/itl/ai-risk-management-framework ; MITRE ATLAS data https://github.com/mitre-atlas/atlas-data . Commercial category context: https://www.lakera.ai/ai-agent-security .</a:t>
            </a:r>
            <a:endParaRPr/>
          </a:p>
        </p:txBody>
      </p:sp>
      <p:sp>
        <p:nvSpPr>
          <p:cNvPr id="137" name="Google Shape;13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Closing: Bayora is a proposed path toward more disciplined, evidence-backed AI security evaluation. Team and theme details should be finalized before submission.</a:t>
            </a:r>
            <a:endParaRPr/>
          </a:p>
        </p:txBody>
      </p:sp>
      <p:sp>
        <p:nvSpPr>
          <p:cNvPr id="146" name="Google Shape;14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grpSp>
        <p:nvGrpSpPr>
          <p:cNvPr id="84" name="Google Shape;84;p13"/>
          <p:cNvGrpSpPr/>
          <p:nvPr/>
        </p:nvGrpSpPr>
        <p:grpSpPr>
          <a:xfrm>
            <a:off x="-803274" y="4586497"/>
            <a:ext cx="11896807" cy="2631420"/>
            <a:chOff x="0" y="-114300"/>
            <a:chExt cx="15862410" cy="3508561"/>
          </a:xfrm>
        </p:grpSpPr>
        <p:sp>
          <p:nvSpPr>
            <p:cNvPr id="85" name="Google Shape;85;p13"/>
            <p:cNvSpPr txBox="1"/>
            <p:nvPr/>
          </p:nvSpPr>
          <p:spPr>
            <a:xfrm>
              <a:off x="0" y="-114300"/>
              <a:ext cx="8473247" cy="1339654"/>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6055" b="1" i="0" u="none" strike="noStrike" cap="none">
                  <a:solidFill>
                    <a:srgbClr val="1D1D1F"/>
                  </a:solidFill>
                  <a:latin typeface="Montserrat"/>
                  <a:ea typeface="Montserrat"/>
                  <a:cs typeface="Montserrat"/>
                  <a:sym typeface="Montserrat"/>
                </a:rPr>
                <a:t>TEAM</a:t>
              </a:r>
              <a:endParaRPr/>
            </a:p>
          </p:txBody>
        </p:sp>
        <p:sp>
          <p:nvSpPr>
            <p:cNvPr id="86" name="Google Shape;86;p13"/>
            <p:cNvSpPr txBox="1"/>
            <p:nvPr/>
          </p:nvSpPr>
          <p:spPr>
            <a:xfrm>
              <a:off x="4917498" y="1498356"/>
              <a:ext cx="10944912" cy="1895905"/>
            </a:xfrm>
            <a:prstGeom prst="rect">
              <a:avLst/>
            </a:prstGeom>
            <a:noFill/>
            <a:ln>
              <a:noFill/>
            </a:ln>
          </p:spPr>
          <p:txBody>
            <a:bodyPr spcFirstLastPara="1" wrap="square" lIns="0" tIns="0" rIns="0" bIns="0" anchor="t" anchorCtr="0">
              <a:spAutoFit/>
            </a:bodyPr>
            <a:lstStyle/>
            <a:p>
              <a:pPr marL="457200" indent="-457200">
                <a:lnSpc>
                  <a:spcPct val="139981"/>
                </a:lnSpc>
                <a:buFont typeface="+mj-lt"/>
                <a:buChar char="•"/>
              </a:pPr>
              <a:r>
                <a:rPr lang="en-US" sz="2200" b="1" i="0" u="none" strike="noStrike" cap="none">
                  <a:solidFill>
                    <a:srgbClr val="1D1D1F"/>
                  </a:solidFill>
                  <a:latin typeface="IBM Plex Sans" panose="020B0503050203000203" pitchFamily="34" charset="0"/>
                  <a:ea typeface="IBM Plex Sans"/>
                  <a:cs typeface="IBM Plex Sans"/>
                  <a:sym typeface="IBM Plex Sans"/>
                </a:rPr>
                <a:t>PROJECT: BAYORA</a:t>
              </a:r>
            </a:p>
            <a:p>
              <a:pPr marL="457200" indent="-457200">
                <a:lnSpc>
                  <a:spcPct val="139981"/>
                </a:lnSpc>
                <a:buFont typeface="+mj-lt"/>
                <a:buChar char="•"/>
              </a:pPr>
              <a:r>
                <a:rPr lang="en-US" sz="2200" b="1" i="0" u="none" strike="noStrike" cap="none">
                  <a:solidFill>
                    <a:srgbClr val="1D1D1F"/>
                  </a:solidFill>
                  <a:latin typeface="IBM Plex Sans" panose="020B0503050203000203" pitchFamily="34" charset="0"/>
                  <a:ea typeface="IBM Plex Sans"/>
                  <a:cs typeface="IBM Plex Sans"/>
                  <a:sym typeface="IBM Plex Sans"/>
                </a:rPr>
                <a:t>TEAM NAME &amp; MEMBERS: TO BE ADDED</a:t>
              </a:r>
            </a:p>
            <a:p>
              <a:pPr marL="457200" indent="-457200">
                <a:lnSpc>
                  <a:spcPct val="139981"/>
                </a:lnSpc>
                <a:buFont typeface="+mj-lt"/>
                <a:buChar char="•"/>
              </a:pPr>
              <a:r>
                <a:rPr lang="en-US" sz="2200" b="1" i="0" u="none" strike="noStrike" cap="none">
                  <a:solidFill>
                    <a:srgbClr val="1D1D1F"/>
                  </a:solidFill>
                  <a:latin typeface="IBM Plex Sans" panose="020B0503050203000203" pitchFamily="34" charset="0"/>
                  <a:ea typeface="IBM Plex Sans"/>
                  <a:cs typeface="IBM Plex Sans"/>
                  <a:sym typeface="IBM Plex Sans"/>
                </a:rPr>
                <a:t>ROLES: TO BE ASSIGNED</a:t>
              </a:r>
              <a:endParaRPr sz="2200">
                <a:latin typeface="IBM Plex Sans" panose="020B0503050203000203" pitchFamily="34" charset="0"/>
              </a:endParaRPr>
            </a:p>
          </p:txBody>
        </p:sp>
      </p:grpSp>
      <p:pic>
        <p:nvPicPr>
          <p:cNvPr id="87" name="Google Shape;87;p13" title="download (2).jpg"/>
          <p:cNvPicPr preferRelativeResize="0"/>
          <p:nvPr/>
        </p:nvPicPr>
        <p:blipFill rotWithShape="1">
          <a:blip r:embed="rId3">
            <a:alphaModFix/>
          </a:blip>
          <a:srcRect l="38928" r="16455"/>
          <a:stretch/>
        </p:blipFill>
        <p:spPr>
          <a:xfrm rot="-5400000">
            <a:off x="7123100" y="-7111200"/>
            <a:ext cx="4088375" cy="18326624"/>
          </a:xfrm>
          <a:prstGeom prst="rect">
            <a:avLst/>
          </a:prstGeom>
          <a:noFill/>
          <a:ln>
            <a:noFill/>
          </a:ln>
        </p:spPr>
      </p:pic>
      <p:pic>
        <p:nvPicPr>
          <p:cNvPr id="88" name="Google Shape;88;p13" title="Group 48097831.png"/>
          <p:cNvPicPr preferRelativeResize="0"/>
          <p:nvPr/>
        </p:nvPicPr>
        <p:blipFill>
          <a:blip r:embed="rId4">
            <a:alphaModFix/>
          </a:blip>
          <a:stretch>
            <a:fillRect/>
          </a:stretch>
        </p:blipFill>
        <p:spPr>
          <a:xfrm>
            <a:off x="318675" y="296224"/>
            <a:ext cx="7240346" cy="791925"/>
          </a:xfrm>
          <a:prstGeom prst="rect">
            <a:avLst/>
          </a:prstGeom>
          <a:noFill/>
          <a:ln>
            <a:noFill/>
          </a:ln>
        </p:spPr>
      </p:pic>
      <p:pic>
        <p:nvPicPr>
          <p:cNvPr id="89" name="Google Shape;89;p13" title="Logo.png"/>
          <p:cNvPicPr preferRelativeResize="0"/>
          <p:nvPr/>
        </p:nvPicPr>
        <p:blipFill>
          <a:blip r:embed="rId5">
            <a:alphaModFix/>
          </a:blip>
          <a:stretch>
            <a:fillRect/>
          </a:stretch>
        </p:blipFill>
        <p:spPr>
          <a:xfrm>
            <a:off x="12520575" y="296231"/>
            <a:ext cx="5599601" cy="7919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4"/>
          <p:cNvSpPr txBox="1"/>
          <p:nvPr/>
        </p:nvSpPr>
        <p:spPr>
          <a:xfrm>
            <a:off x="542925" y="2001834"/>
            <a:ext cx="8601075" cy="53097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3095" b="1" i="0" u="none" strike="noStrike" cap="none">
                <a:solidFill>
                  <a:srgbClr val="000000"/>
                </a:solidFill>
                <a:latin typeface="Montserrat"/>
                <a:ea typeface="Montserrat"/>
                <a:cs typeface="Montserrat"/>
                <a:sym typeface="Montserrat"/>
              </a:rPr>
              <a:t>PROBLEM STATEMENT &amp; THEME</a:t>
            </a:r>
            <a:endParaRPr/>
          </a:p>
        </p:txBody>
      </p:sp>
      <p:grpSp>
        <p:nvGrpSpPr>
          <p:cNvPr id="95" name="Google Shape;95;p14"/>
          <p:cNvGrpSpPr/>
          <p:nvPr/>
        </p:nvGrpSpPr>
        <p:grpSpPr>
          <a:xfrm>
            <a:off x="1972243" y="2525665"/>
            <a:ext cx="11438558" cy="1950265"/>
            <a:chOff x="0" y="-9525"/>
            <a:chExt cx="15251410" cy="2600353"/>
          </a:xfrm>
        </p:grpSpPr>
        <p:sp>
          <p:nvSpPr>
            <p:cNvPr id="96" name="Google Shape;96;p14"/>
            <p:cNvSpPr txBox="1"/>
            <p:nvPr/>
          </p:nvSpPr>
          <p:spPr>
            <a:xfrm>
              <a:off x="0" y="-9525"/>
              <a:ext cx="14028699" cy="648811"/>
            </a:xfrm>
            <a:prstGeom prst="rect">
              <a:avLst/>
            </a:prstGeom>
            <a:noFill/>
            <a:ln>
              <a:noFill/>
            </a:ln>
          </p:spPr>
          <p:txBody>
            <a:bodyPr spcFirstLastPara="1" wrap="square" lIns="0" tIns="0" rIns="0" bIns="0" anchor="t" anchorCtr="0">
              <a:spAutoFit/>
            </a:bodyPr>
            <a:lstStyle/>
            <a:p>
              <a:pPr marL="0" marR="0" lvl="0" indent="0" algn="l" rtl="0">
                <a:lnSpc>
                  <a:spcPct val="185611"/>
                </a:lnSpc>
                <a:spcBef>
                  <a:spcPts val="0"/>
                </a:spcBef>
                <a:spcAft>
                  <a:spcPts val="0"/>
                </a:spcAft>
                <a:buNone/>
              </a:pPr>
              <a:r>
                <a:rPr lang="en-IN" sz="1700" b="0" i="0" u="none" strike="noStrike" cap="none">
                  <a:solidFill>
                    <a:schemeClr val="dk1"/>
                  </a:solidFill>
                  <a:latin typeface="IBM Plex Sans" panose="020B0503050203000203" pitchFamily="34" charset="0"/>
                  <a:ea typeface="Calibri"/>
                  <a:cs typeface="Calibri"/>
                  <a:sym typeface="Calibri"/>
                </a:rPr>
                <a:t>WHY IT MATTERS</a:t>
              </a:r>
              <a:endParaRPr sz="1700" b="1" i="0" u="none" strike="noStrike" cap="none">
                <a:solidFill>
                  <a:srgbClr val="1D1D1F"/>
                </a:solidFill>
                <a:latin typeface="IBM Plex Sans" panose="020B0503050203000203" pitchFamily="34" charset="0"/>
                <a:ea typeface="IBM Plex Sans"/>
                <a:cs typeface="IBM Plex Sans"/>
                <a:sym typeface="IBM Plex Sans"/>
              </a:endParaRPr>
            </a:p>
          </p:txBody>
        </p:sp>
        <p:sp>
          <p:nvSpPr>
            <p:cNvPr id="97" name="Google Shape;97;p14"/>
            <p:cNvSpPr txBox="1"/>
            <p:nvPr/>
          </p:nvSpPr>
          <p:spPr>
            <a:xfrm>
              <a:off x="1222711" y="1408965"/>
              <a:ext cx="14028699" cy="1181863"/>
            </a:xfrm>
            <a:prstGeom prst="rect">
              <a:avLst/>
            </a:prstGeom>
            <a:noFill/>
            <a:ln>
              <a:noFill/>
            </a:ln>
          </p:spPr>
          <p:txBody>
            <a:bodyPr spcFirstLastPara="1" wrap="square" lIns="0" tIns="0" rIns="0" bIns="0" anchor="t" anchorCtr="0">
              <a:spAutoFit/>
            </a:bodyPr>
            <a:lstStyle/>
            <a:p>
              <a:pPr marL="601160" marR="0" lvl="1" indent="-300580" algn="l" rtl="0">
                <a:lnSpc>
                  <a:spcPct val="120007"/>
                </a:lnSpc>
                <a:spcBef>
                  <a:spcPts val="0"/>
                </a:spcBef>
                <a:spcAft>
                  <a:spcPts val="0"/>
                </a:spcAft>
                <a:buClr>
                  <a:srgbClr val="1D1D1F"/>
                </a:buClr>
                <a:buSzPts val="2784"/>
                <a:buFont typeface="Arial"/>
                <a:buChar char="•"/>
              </a:pPr>
              <a:r>
                <a:rPr lang="en-US" sz="1600" b="0" i="0" u="none" strike="noStrike" cap="none">
                  <a:solidFill>
                    <a:srgbClr val="1D1D1F"/>
                  </a:solidFill>
                  <a:latin typeface="IBM Plex Sans" panose="020B0503050203000203" pitchFamily="34" charset="0"/>
                  <a:ea typeface="IBM Plex Sans"/>
                  <a:cs typeface="IBM Plex Sans"/>
                  <a:sym typeface="IBM Plex Sans"/>
                </a:rPr>
                <a:t>Problem - AI security testing needs a repeatable, authorized workflow.</a:t>
              </a:r>
            </a:p>
            <a:p>
              <a:pPr marL="601160" marR="0" lvl="1" indent="-300580" algn="l" rtl="0">
                <a:lnSpc>
                  <a:spcPct val="120007"/>
                </a:lnSpc>
                <a:spcBef>
                  <a:spcPts val="0"/>
                </a:spcBef>
                <a:spcAft>
                  <a:spcPts val="0"/>
                </a:spcAft>
                <a:buClr>
                  <a:srgbClr val="1D1D1F"/>
                </a:buClr>
                <a:buSzPts val="2784"/>
                <a:buFont typeface="Arial"/>
                <a:buChar char="•"/>
              </a:pPr>
              <a:r>
                <a:rPr lang="en-US" sz="1600" b="0" i="0" u="none" strike="noStrike" cap="none">
                  <a:solidFill>
                    <a:srgbClr val="1D1D1F"/>
                  </a:solidFill>
                  <a:latin typeface="IBM Plex Sans" panose="020B0503050203000203" pitchFamily="34" charset="0"/>
                  <a:ea typeface="IBM Plex Sans"/>
                  <a:cs typeface="IBM Plex Sans"/>
                  <a:sym typeface="IBM Plex Sans"/>
                </a:rPr>
                <a:t>Impact - Prompt injection and unsafe behavior can expose data and erode trust (OWASP, 2025).</a:t>
              </a:r>
            </a:p>
            <a:p>
              <a:pPr marL="601160" marR="0" lvl="1" indent="-300580" algn="l" rtl="0">
                <a:lnSpc>
                  <a:spcPct val="120007"/>
                </a:lnSpc>
                <a:spcBef>
                  <a:spcPts val="0"/>
                </a:spcBef>
                <a:spcAft>
                  <a:spcPts val="0"/>
                </a:spcAft>
                <a:buClr>
                  <a:srgbClr val="1D1D1F"/>
                </a:buClr>
                <a:buSzPts val="2784"/>
                <a:buFont typeface="Arial"/>
                <a:buChar char="•"/>
              </a:pPr>
              <a:r>
                <a:rPr lang="en-US" sz="1600" b="0" i="0" u="none" strike="noStrike" cap="none">
                  <a:solidFill>
                    <a:srgbClr val="1D1D1F"/>
                  </a:solidFill>
                  <a:latin typeface="IBM Plex Sans" panose="020B0503050203000203" pitchFamily="34" charset="0"/>
                  <a:ea typeface="IBM Plex Sans"/>
                  <a:cs typeface="IBM Plex Sans"/>
                  <a:sym typeface="IBM Plex Sans"/>
                </a:rPr>
                <a:t>Theme alignment - Secure, responsible AI; official HIH theme requires confirmation.</a:t>
              </a:r>
              <a:endParaRPr sz="1600">
                <a:latin typeface="IBM Plex Sans" panose="020B0503050203000203" pitchFamily="34" charset="0"/>
              </a:endParaRPr>
            </a:p>
          </p:txBody>
        </p:sp>
      </p:grpSp>
      <p:pic>
        <p:nvPicPr>
          <p:cNvPr id="98" name="Google Shape;98;p14" title="pptnlogo.png"/>
          <p:cNvPicPr preferRelativeResize="0"/>
          <p:nvPr/>
        </p:nvPicPr>
        <p:blipFill>
          <a:blip r:embed="rId3">
            <a:alphaModFix/>
          </a:blip>
          <a:stretch>
            <a:fillRect/>
          </a:stretch>
        </p:blipFill>
        <p:spPr>
          <a:xfrm>
            <a:off x="0" y="0"/>
            <a:ext cx="18288000" cy="120551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5"/>
          <p:cNvSpPr txBox="1"/>
          <p:nvPr/>
        </p:nvSpPr>
        <p:spPr>
          <a:xfrm>
            <a:off x="534132" y="1962522"/>
            <a:ext cx="2771894" cy="10739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3095" b="1" i="0" u="none" strike="noStrike" cap="none">
                <a:solidFill>
                  <a:srgbClr val="000000"/>
                </a:solidFill>
                <a:latin typeface="Montserrat"/>
                <a:ea typeface="Montserrat"/>
                <a:cs typeface="Montserrat"/>
                <a:sym typeface="Montserrat"/>
              </a:rPr>
              <a:t>SOLUTION</a:t>
            </a:r>
            <a:endParaRPr/>
          </a:p>
          <a:p>
            <a:pPr marL="0" marR="0" lvl="0" indent="0" algn="ctr" rtl="0">
              <a:lnSpc>
                <a:spcPct val="140000"/>
              </a:lnSpc>
              <a:spcBef>
                <a:spcPts val="0"/>
              </a:spcBef>
              <a:spcAft>
                <a:spcPts val="0"/>
              </a:spcAft>
              <a:buNone/>
            </a:pPr>
            <a:endParaRPr sz="3095" b="1" i="0" u="none" strike="noStrike" cap="none">
              <a:solidFill>
                <a:srgbClr val="000000"/>
              </a:solidFill>
              <a:latin typeface="Montserrat"/>
              <a:ea typeface="Montserrat"/>
              <a:cs typeface="Montserrat"/>
              <a:sym typeface="Montserrat"/>
            </a:endParaRPr>
          </a:p>
        </p:txBody>
      </p:sp>
      <p:grpSp>
        <p:nvGrpSpPr>
          <p:cNvPr id="104" name="Google Shape;104;p15"/>
          <p:cNvGrpSpPr/>
          <p:nvPr/>
        </p:nvGrpSpPr>
        <p:grpSpPr>
          <a:xfrm>
            <a:off x="1452328" y="2029197"/>
            <a:ext cx="11438558" cy="2433038"/>
            <a:chOff x="0" y="0"/>
            <a:chExt cx="15251410" cy="3244050"/>
          </a:xfrm>
        </p:grpSpPr>
        <p:sp>
          <p:nvSpPr>
            <p:cNvPr id="105" name="Google Shape;105;p15"/>
            <p:cNvSpPr txBox="1"/>
            <p:nvPr/>
          </p:nvSpPr>
          <p:spPr>
            <a:xfrm>
              <a:off x="0" y="0"/>
              <a:ext cx="14028699" cy="3244050"/>
            </a:xfrm>
            <a:prstGeom prst="rect">
              <a:avLst/>
            </a:prstGeom>
            <a:noFill/>
            <a:ln>
              <a:noFill/>
            </a:ln>
          </p:spPr>
          <p:txBody>
            <a:bodyPr spcFirstLastPara="1" wrap="square" lIns="0" tIns="0" rIns="0" bIns="0" anchor="t" anchorCtr="0">
              <a:spAutoFit/>
            </a:bodyPr>
            <a:lstStyle/>
            <a:p>
              <a:pPr marL="0" marR="0" lvl="0" indent="0" algn="l" rtl="0">
                <a:lnSpc>
                  <a:spcPct val="185611"/>
                </a:lnSpc>
                <a:spcBef>
                  <a:spcPts val="0"/>
                </a:spcBef>
                <a:spcAft>
                  <a:spcPts val="0"/>
                </a:spcAft>
                <a:buNone/>
              </a:pPr>
              <a:endParaRPr lang="en-US" sz="1700" b="0" i="0" u="none" strike="noStrike" cap="none">
                <a:solidFill>
                  <a:schemeClr val="dk1"/>
                </a:solidFill>
                <a:latin typeface="IBM Plex Sans" panose="020B0503050203000203" pitchFamily="34" charset="0"/>
                <a:ea typeface="Calibri"/>
                <a:cs typeface="Calibri"/>
                <a:sym typeface="Calibri"/>
              </a:endParaRPr>
            </a:p>
            <a:p>
              <a:pPr marL="0" marR="0" lvl="0" indent="0" algn="l" rtl="0">
                <a:lnSpc>
                  <a:spcPct val="185611"/>
                </a:lnSpc>
                <a:spcBef>
                  <a:spcPts val="0"/>
                </a:spcBef>
                <a:spcAft>
                  <a:spcPts val="0"/>
                </a:spcAft>
                <a:buNone/>
              </a:pPr>
              <a:endParaRPr lang="en-US" sz="1700" b="0" i="0" u="none" strike="noStrike" cap="none">
                <a:solidFill>
                  <a:schemeClr val="dk1"/>
                </a:solidFill>
                <a:latin typeface="IBM Plex Sans" panose="020B0503050203000203" pitchFamily="34" charset="0"/>
                <a:ea typeface="Calibri"/>
                <a:cs typeface="Calibri"/>
                <a:sym typeface="Calibri"/>
              </a:endParaRPr>
            </a:p>
            <a:p>
              <a:pPr marL="342900" indent="-342900">
                <a:lnSpc>
                  <a:spcPct val="185611"/>
                </a:lnSpc>
                <a:buFont typeface="+mj-lt"/>
                <a:buChar char="•"/>
              </a:pPr>
              <a:r>
                <a:rPr lang="en-US" sz="1700" b="0" i="0" u="none" strike="noStrike" cap="none">
                  <a:solidFill>
                    <a:schemeClr val="dk1"/>
                  </a:solidFill>
                  <a:latin typeface="IBM Plex Sans" panose="020B0503050203000203" pitchFamily="34" charset="0"/>
                  <a:ea typeface="Calibri"/>
                  <a:cs typeface="Calibri"/>
                  <a:sym typeface="Calibri"/>
                </a:rPr>
                <a:t>Overview - A proposed platform for authorized AI security assessments.</a:t>
              </a:r>
            </a:p>
            <a:p>
              <a:pPr marL="342900" indent="-342900">
                <a:lnSpc>
                  <a:spcPct val="185611"/>
                </a:lnSpc>
                <a:buFont typeface="+mj-lt"/>
                <a:buChar char="•"/>
              </a:pPr>
              <a:r>
                <a:rPr lang="en-US" sz="1700" b="0" i="0" u="none" strike="noStrike" cap="none">
                  <a:solidFill>
                    <a:schemeClr val="dk1"/>
                  </a:solidFill>
                  <a:latin typeface="IBM Plex Sans" panose="020B0503050203000203" pitchFamily="34" charset="0"/>
                  <a:ea typeface="Calibri"/>
                  <a:cs typeface="Calibri"/>
                  <a:sym typeface="Calibri"/>
                </a:rPr>
                <a:t>Features - Red/Blue workflows; evidence-backed findings; traceable review.</a:t>
              </a:r>
            </a:p>
            <a:p>
              <a:pPr marL="342900" indent="-342900">
                <a:lnSpc>
                  <a:spcPct val="185611"/>
                </a:lnSpc>
                <a:buFont typeface="+mj-lt"/>
                <a:buChar char="•"/>
              </a:pPr>
              <a:r>
                <a:rPr lang="en-US" sz="1700" b="0" i="0" u="none" strike="noStrike" cap="none">
                  <a:solidFill>
                    <a:schemeClr val="dk1"/>
                  </a:solidFill>
                  <a:latin typeface="IBM Plex Sans" panose="020B0503050203000203" pitchFamily="34" charset="0"/>
                  <a:ea typeface="Calibri"/>
                  <a:cs typeface="Calibri"/>
                  <a:sym typeface="Calibri"/>
                </a:rPr>
                <a:t>Value - One workflow from adversarial test to evidence, decision, and audit.</a:t>
              </a:r>
              <a:endParaRPr sz="1700" b="0" i="0" u="none" strike="noStrike" cap="none">
                <a:solidFill>
                  <a:srgbClr val="1D1D1F"/>
                </a:solidFill>
                <a:latin typeface="IBM Plex Sans" panose="020B0503050203000203" pitchFamily="34" charset="0"/>
                <a:ea typeface="IBM Plex Sans"/>
                <a:cs typeface="IBM Plex Sans"/>
                <a:sym typeface="IBM Plex Sans"/>
              </a:endParaRPr>
            </a:p>
          </p:txBody>
        </p:sp>
        <p:sp>
          <p:nvSpPr>
            <p:cNvPr id="106" name="Google Shape;106;p15"/>
            <p:cNvSpPr txBox="1"/>
            <p:nvPr/>
          </p:nvSpPr>
          <p:spPr>
            <a:xfrm>
              <a:off x="1222710" y="1399440"/>
              <a:ext cx="14028700" cy="574949"/>
            </a:xfrm>
            <a:prstGeom prst="rect">
              <a:avLst/>
            </a:prstGeom>
            <a:noFill/>
            <a:ln>
              <a:noFill/>
            </a:ln>
          </p:spPr>
          <p:txBody>
            <a:bodyPr spcFirstLastPara="1" wrap="square" lIns="0" tIns="0" rIns="0" bIns="0" anchor="t" anchorCtr="0">
              <a:spAutoFit/>
            </a:bodyPr>
            <a:lstStyle/>
            <a:p>
              <a:pPr marL="0" marR="0" lvl="0" indent="0" algn="l" rtl="0">
                <a:lnSpc>
                  <a:spcPct val="185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107" name="Google Shape;107;p15" title="pptnlogo.png"/>
          <p:cNvPicPr preferRelativeResize="0"/>
          <p:nvPr/>
        </p:nvPicPr>
        <p:blipFill>
          <a:blip r:embed="rId3">
            <a:alphaModFix/>
          </a:blip>
          <a:stretch>
            <a:fillRect/>
          </a:stretch>
        </p:blipFill>
        <p:spPr>
          <a:xfrm>
            <a:off x="0" y="0"/>
            <a:ext cx="18288000" cy="120551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p:nvPr/>
        </p:nvSpPr>
        <p:spPr>
          <a:xfrm>
            <a:off x="742427" y="1962522"/>
            <a:ext cx="4706682" cy="10739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3095" b="1" i="0" u="none" strike="noStrike" cap="none">
                <a:solidFill>
                  <a:srgbClr val="000000"/>
                </a:solidFill>
                <a:latin typeface="Montserrat"/>
                <a:ea typeface="Montserrat"/>
                <a:cs typeface="Montserrat"/>
                <a:sym typeface="Montserrat"/>
              </a:rPr>
              <a:t>ARCHITECTURE</a:t>
            </a:r>
            <a:endParaRPr/>
          </a:p>
          <a:p>
            <a:pPr marL="0" marR="0" lvl="0" indent="0" algn="ctr" rtl="0">
              <a:lnSpc>
                <a:spcPct val="140000"/>
              </a:lnSpc>
              <a:spcBef>
                <a:spcPts val="0"/>
              </a:spcBef>
              <a:spcAft>
                <a:spcPts val="0"/>
              </a:spcAft>
              <a:buNone/>
            </a:pPr>
            <a:endParaRPr sz="3095" b="1" i="0" u="none" strike="noStrike" cap="none">
              <a:solidFill>
                <a:srgbClr val="000000"/>
              </a:solidFill>
              <a:latin typeface="Montserrat"/>
              <a:ea typeface="Montserrat"/>
              <a:cs typeface="Montserrat"/>
              <a:sym typeface="Montserrat"/>
            </a:endParaRPr>
          </a:p>
        </p:txBody>
      </p:sp>
      <p:grpSp>
        <p:nvGrpSpPr>
          <p:cNvPr id="113" name="Google Shape;113;p16"/>
          <p:cNvGrpSpPr/>
          <p:nvPr/>
        </p:nvGrpSpPr>
        <p:grpSpPr>
          <a:xfrm>
            <a:off x="2419271" y="2681356"/>
            <a:ext cx="12462895" cy="2983291"/>
            <a:chOff x="0" y="0"/>
            <a:chExt cx="16617193" cy="3977721"/>
          </a:xfrm>
        </p:grpSpPr>
        <p:sp>
          <p:nvSpPr>
            <p:cNvPr id="114" name="Google Shape;114;p16"/>
            <p:cNvSpPr txBox="1"/>
            <p:nvPr/>
          </p:nvSpPr>
          <p:spPr>
            <a:xfrm>
              <a:off x="0" y="0"/>
              <a:ext cx="15284986" cy="1181863"/>
            </a:xfrm>
            <a:prstGeom prst="rect">
              <a:avLst/>
            </a:prstGeom>
            <a:noFill/>
            <a:ln>
              <a:noFill/>
            </a:ln>
          </p:spPr>
          <p:txBody>
            <a:bodyPr spcFirstLastPara="1" wrap="square" lIns="0" tIns="0" rIns="0" bIns="0" anchor="t" anchorCtr="0">
              <a:spAutoFit/>
            </a:bodyPr>
            <a:lstStyle/>
            <a:p>
              <a:pPr marL="342900" indent="-342900">
                <a:lnSpc>
                  <a:spcPct val="120013"/>
                </a:lnSpc>
                <a:buFont typeface="+mj-lt"/>
                <a:buChar char="•"/>
              </a:pPr>
              <a:r>
                <a:rPr lang="en-US" sz="1600" b="0" i="0" u="none" strike="noStrike" cap="none">
                  <a:solidFill>
                    <a:srgbClr val="1D1D1F"/>
                  </a:solidFill>
                  <a:latin typeface="IBM Plex Sans" panose="020B0503050203000203" pitchFamily="34" charset="0"/>
                  <a:ea typeface="IBM Plex Sans"/>
                  <a:cs typeface="IBM Plex Sans"/>
                  <a:sym typeface="IBM Plex Sans"/>
                </a:rPr>
                <a:t>Stack - Browser UI; Python API; SQLite; isolated workers; provider adapters.</a:t>
              </a:r>
            </a:p>
            <a:p>
              <a:pPr marL="342900" indent="-342900">
                <a:lnSpc>
                  <a:spcPct val="120013"/>
                </a:lnSpc>
                <a:buFont typeface="+mj-lt"/>
                <a:buChar char="•"/>
              </a:pPr>
              <a:r>
                <a:rPr lang="en-US" sz="1600" b="0" i="0" u="none" strike="noStrike" cap="none">
                  <a:solidFill>
                    <a:srgbClr val="1D1D1F"/>
                  </a:solidFill>
                  <a:latin typeface="IBM Plex Sans" panose="020B0503050203000203" pitchFamily="34" charset="0"/>
                  <a:ea typeface="IBM Plex Sans"/>
                  <a:cs typeface="IBM Plex Sans"/>
                  <a:sym typeface="IBM Plex Sans"/>
                </a:rPr>
                <a:t>Flow - User -&gt; scope/policy checks -&gt; adversarial tests -&gt; evidence -&gt; findings/audit.</a:t>
              </a:r>
            </a:p>
            <a:p>
              <a:pPr marL="342900" indent="-342900">
                <a:lnSpc>
                  <a:spcPct val="120013"/>
                </a:lnSpc>
                <a:buFont typeface="+mj-lt"/>
                <a:buChar char="•"/>
              </a:pPr>
              <a:r>
                <a:rPr lang="en-US" sz="1600" b="0" i="0" u="none" strike="noStrike" cap="none">
                  <a:solidFill>
                    <a:srgbClr val="1D1D1F"/>
                  </a:solidFill>
                  <a:latin typeface="IBM Plex Sans" panose="020B0503050203000203" pitchFamily="34" charset="0"/>
                  <a:ea typeface="IBM Plex Sans"/>
                  <a:cs typeface="IBM Plex Sans"/>
                  <a:sym typeface="IBM Plex Sans"/>
                </a:rPr>
                <a:t>APIs - Planned model/provider APIs; optional TinyFish research integration.</a:t>
              </a:r>
              <a:endParaRPr sz="1600" b="0" i="0" u="none" strike="noStrike" cap="none">
                <a:solidFill>
                  <a:srgbClr val="1D1D1F"/>
                </a:solidFill>
                <a:latin typeface="IBM Plex Sans" panose="020B0503050203000203" pitchFamily="34" charset="0"/>
                <a:ea typeface="IBM Plex Sans"/>
                <a:cs typeface="IBM Plex Sans"/>
                <a:sym typeface="IBM Plex Sans"/>
              </a:endParaRPr>
            </a:p>
          </p:txBody>
        </p:sp>
        <p:sp>
          <p:nvSpPr>
            <p:cNvPr id="115" name="Google Shape;115;p16"/>
            <p:cNvSpPr txBox="1"/>
            <p:nvPr/>
          </p:nvSpPr>
          <p:spPr>
            <a:xfrm>
              <a:off x="1332206" y="3361663"/>
              <a:ext cx="15284987" cy="616058"/>
            </a:xfrm>
            <a:prstGeom prst="rect">
              <a:avLst/>
            </a:prstGeom>
            <a:noFill/>
            <a:ln>
              <a:noFill/>
            </a:ln>
          </p:spPr>
          <p:txBody>
            <a:bodyPr spcFirstLastPara="1" wrap="square" lIns="0" tIns="0" rIns="0" bIns="0" anchor="t" anchorCtr="0">
              <a:spAutoFit/>
            </a:bodyPr>
            <a:lstStyle/>
            <a:p>
              <a:pPr marL="0" marR="0" lvl="0" indent="0" algn="l" rtl="0">
                <a:lnSpc>
                  <a:spcPct val="2022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116" name="Google Shape;116;p16" title="pptnlogo.png"/>
          <p:cNvPicPr preferRelativeResize="0"/>
          <p:nvPr/>
        </p:nvPicPr>
        <p:blipFill>
          <a:blip r:embed="rId3">
            <a:alphaModFix/>
          </a:blip>
          <a:stretch>
            <a:fillRect/>
          </a:stretch>
        </p:blipFill>
        <p:spPr>
          <a:xfrm>
            <a:off x="0" y="0"/>
            <a:ext cx="18288000" cy="120551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7"/>
          <p:cNvSpPr txBox="1"/>
          <p:nvPr/>
        </p:nvSpPr>
        <p:spPr>
          <a:xfrm>
            <a:off x="0" y="1913006"/>
            <a:ext cx="9064063" cy="53097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3095" b="1" i="0" u="none" strike="noStrike" cap="none">
                <a:solidFill>
                  <a:srgbClr val="000000"/>
                </a:solidFill>
                <a:latin typeface="Montserrat"/>
                <a:ea typeface="Montserrat"/>
                <a:cs typeface="Montserrat"/>
                <a:sym typeface="Montserrat"/>
              </a:rPr>
              <a:t>MARKET RESEARCH/ANALYSIS</a:t>
            </a:r>
            <a:endParaRPr/>
          </a:p>
        </p:txBody>
      </p:sp>
      <p:grpSp>
        <p:nvGrpSpPr>
          <p:cNvPr id="122" name="Google Shape;122;p17"/>
          <p:cNvGrpSpPr/>
          <p:nvPr/>
        </p:nvGrpSpPr>
        <p:grpSpPr>
          <a:xfrm>
            <a:off x="2963944" y="2617286"/>
            <a:ext cx="11438558" cy="3157191"/>
            <a:chOff x="0" y="0"/>
            <a:chExt cx="15251410" cy="4209589"/>
          </a:xfrm>
        </p:grpSpPr>
        <p:sp>
          <p:nvSpPr>
            <p:cNvPr id="123" name="Google Shape;123;p17"/>
            <p:cNvSpPr txBox="1"/>
            <p:nvPr/>
          </p:nvSpPr>
          <p:spPr>
            <a:xfrm>
              <a:off x="0" y="0"/>
              <a:ext cx="15251410" cy="1477328"/>
            </a:xfrm>
            <a:prstGeom prst="rect">
              <a:avLst/>
            </a:prstGeom>
            <a:noFill/>
            <a:ln>
              <a:noFill/>
            </a:ln>
          </p:spPr>
          <p:txBody>
            <a:bodyPr spcFirstLastPara="1" wrap="square" lIns="0" tIns="0" rIns="0" bIns="0" anchor="t" anchorCtr="0">
              <a:spAutoFit/>
            </a:bodyPr>
            <a:lstStyle/>
            <a:p>
              <a:pPr marL="342900" indent="-342900">
                <a:lnSpc>
                  <a:spcPct val="119986"/>
                </a:lnSpc>
                <a:buFont typeface="+mj-lt"/>
                <a:buChar char="•"/>
              </a:pPr>
              <a:r>
                <a:rPr lang="en-US" sz="1500" b="0" i="0" u="none" strike="noStrike" cap="none">
                  <a:solidFill>
                    <a:srgbClr val="1D1D1F"/>
                  </a:solidFill>
                  <a:latin typeface="IBM Plex Sans" panose="020B0503050203000203" pitchFamily="34" charset="0"/>
                  <a:ea typeface="IBM Plex Sans"/>
                  <a:cs typeface="IBM Plex Sans"/>
                  <a:sym typeface="IBM Plex Sans"/>
                </a:rPr>
                <a:t>Users - AI builders, security researchers, enterprise AI/security teams.</a:t>
              </a:r>
            </a:p>
            <a:p>
              <a:pPr marL="342900" indent="-342900">
                <a:lnSpc>
                  <a:spcPct val="119986"/>
                </a:lnSpc>
                <a:buFont typeface="+mj-lt"/>
                <a:buChar char="•"/>
              </a:pPr>
              <a:r>
                <a:rPr lang="en-US" sz="1500" b="0" i="0" u="none" strike="noStrike" cap="none">
                  <a:solidFill>
                    <a:srgbClr val="1D1D1F"/>
                  </a:solidFill>
                  <a:latin typeface="IBM Plex Sans" panose="020B0503050203000203" pitchFamily="34" charset="0"/>
                  <a:ea typeface="IBM Plex Sans"/>
                  <a:cs typeface="IBM Plex Sans"/>
                  <a:sym typeface="IBM Plex Sans"/>
                </a:rPr>
                <a:t>Market - AI governance: $308.3M (2025), 36% CAGR forecast (GVR, 2026); proxy category, not Bayora TAM.</a:t>
              </a:r>
            </a:p>
            <a:p>
              <a:pPr marL="342900" indent="-342900">
                <a:lnSpc>
                  <a:spcPct val="119986"/>
                </a:lnSpc>
                <a:buFont typeface="+mj-lt"/>
                <a:buChar char="•"/>
              </a:pPr>
              <a:r>
                <a:rPr lang="en-US" sz="1500" b="0" i="0" u="none" strike="noStrike" cap="none">
                  <a:solidFill>
                    <a:srgbClr val="1D1D1F"/>
                  </a:solidFill>
                  <a:latin typeface="IBM Plex Sans" panose="020B0503050203000203" pitchFamily="34" charset="0"/>
                  <a:ea typeface="IBM Plex Sans"/>
                  <a:cs typeface="IBM Plex Sans"/>
                  <a:sym typeface="IBM Plex Sans"/>
                </a:rPr>
                <a:t>Revenue - Community edition -&gt; paid team/enterprise plans; assessment services.</a:t>
              </a:r>
            </a:p>
            <a:p>
              <a:pPr marL="342900" indent="-342900">
                <a:lnSpc>
                  <a:spcPct val="119986"/>
                </a:lnSpc>
                <a:buFont typeface="+mj-lt"/>
                <a:buChar char="•"/>
              </a:pPr>
              <a:r>
                <a:rPr lang="en-US" sz="1500" b="0" i="0" u="none" strike="noStrike" cap="none">
                  <a:solidFill>
                    <a:srgbClr val="1D1D1F"/>
                  </a:solidFill>
                  <a:latin typeface="IBM Plex Sans" panose="020B0503050203000203" pitchFamily="34" charset="0"/>
                  <a:ea typeface="IBM Plex Sans"/>
                  <a:cs typeface="IBM Plex Sans"/>
                  <a:sym typeface="IBM Plex Sans"/>
                </a:rPr>
                <a:t>Growth - Regulation, AI adoption, and demand for traceable oversight.</a:t>
              </a:r>
              <a:endParaRPr sz="1500" b="0" i="0" u="none" strike="noStrike" cap="none">
                <a:solidFill>
                  <a:srgbClr val="1D1D1F"/>
                </a:solidFill>
                <a:latin typeface="IBM Plex Sans" panose="020B0503050203000203" pitchFamily="34" charset="0"/>
                <a:ea typeface="IBM Plex Sans"/>
                <a:cs typeface="IBM Plex Sans"/>
                <a:sym typeface="IBM Plex Sans"/>
              </a:endParaRPr>
            </a:p>
          </p:txBody>
        </p:sp>
        <p:sp>
          <p:nvSpPr>
            <p:cNvPr id="124" name="Google Shape;124;p17"/>
            <p:cNvSpPr txBox="1"/>
            <p:nvPr/>
          </p:nvSpPr>
          <p:spPr>
            <a:xfrm>
              <a:off x="1222710" y="3634640"/>
              <a:ext cx="14028700" cy="574949"/>
            </a:xfrm>
            <a:prstGeom prst="rect">
              <a:avLst/>
            </a:prstGeom>
            <a:noFill/>
            <a:ln>
              <a:noFill/>
            </a:ln>
          </p:spPr>
          <p:txBody>
            <a:bodyPr spcFirstLastPara="1" wrap="square" lIns="0" tIns="0" rIns="0" bIns="0" anchor="t" anchorCtr="0">
              <a:spAutoFit/>
            </a:bodyPr>
            <a:lstStyle/>
            <a:p>
              <a:pPr marL="0" marR="0" lvl="0" indent="0" algn="l" rtl="0">
                <a:lnSpc>
                  <a:spcPct val="185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125" name="Google Shape;125;p17" title="pptnlogo.png"/>
          <p:cNvPicPr preferRelativeResize="0"/>
          <p:nvPr/>
        </p:nvPicPr>
        <p:blipFill>
          <a:blip r:embed="rId3">
            <a:alphaModFix/>
          </a:blip>
          <a:stretch>
            <a:fillRect/>
          </a:stretch>
        </p:blipFill>
        <p:spPr>
          <a:xfrm>
            <a:off x="0" y="0"/>
            <a:ext cx="18288000" cy="120551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8"/>
          <p:cNvSpPr txBox="1"/>
          <p:nvPr/>
        </p:nvSpPr>
        <p:spPr>
          <a:xfrm>
            <a:off x="-2138647" y="1632214"/>
            <a:ext cx="9064063" cy="10739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3095" b="1" i="0" u="none" strike="noStrike" cap="none">
                <a:solidFill>
                  <a:srgbClr val="000000"/>
                </a:solidFill>
                <a:latin typeface="Montserrat"/>
                <a:ea typeface="Montserrat"/>
                <a:cs typeface="Montserrat"/>
                <a:sym typeface="Montserrat"/>
              </a:rPr>
              <a:t>FUTURE SCOPE</a:t>
            </a:r>
            <a:endParaRPr/>
          </a:p>
          <a:p>
            <a:pPr marL="0" marR="0" lvl="0" indent="0" algn="ctr" rtl="0">
              <a:lnSpc>
                <a:spcPct val="140000"/>
              </a:lnSpc>
              <a:spcBef>
                <a:spcPts val="0"/>
              </a:spcBef>
              <a:spcAft>
                <a:spcPts val="0"/>
              </a:spcAft>
              <a:buNone/>
            </a:pPr>
            <a:endParaRPr sz="3095" b="1" i="0" u="none" strike="noStrike" cap="none">
              <a:solidFill>
                <a:srgbClr val="000000"/>
              </a:solidFill>
              <a:latin typeface="Montserrat"/>
              <a:ea typeface="Montserrat"/>
              <a:cs typeface="Montserrat"/>
              <a:sym typeface="Montserrat"/>
            </a:endParaRPr>
          </a:p>
        </p:txBody>
      </p:sp>
      <p:grpSp>
        <p:nvGrpSpPr>
          <p:cNvPr id="131" name="Google Shape;131;p18"/>
          <p:cNvGrpSpPr/>
          <p:nvPr/>
        </p:nvGrpSpPr>
        <p:grpSpPr>
          <a:xfrm>
            <a:off x="1206137" y="2405409"/>
            <a:ext cx="11438558" cy="3157191"/>
            <a:chOff x="0" y="0"/>
            <a:chExt cx="15251410" cy="4209589"/>
          </a:xfrm>
        </p:grpSpPr>
        <p:sp>
          <p:nvSpPr>
            <p:cNvPr id="132" name="Google Shape;132;p18"/>
            <p:cNvSpPr txBox="1"/>
            <p:nvPr/>
          </p:nvSpPr>
          <p:spPr>
            <a:xfrm>
              <a:off x="0" y="0"/>
              <a:ext cx="14028699" cy="1674304"/>
            </a:xfrm>
            <a:prstGeom prst="rect">
              <a:avLst/>
            </a:prstGeom>
            <a:noFill/>
            <a:ln>
              <a:noFill/>
            </a:ln>
          </p:spPr>
          <p:txBody>
            <a:bodyPr spcFirstLastPara="1" wrap="square" lIns="0" tIns="0" rIns="0" bIns="0" anchor="t" anchorCtr="0">
              <a:spAutoFit/>
            </a:bodyPr>
            <a:lstStyle/>
            <a:p>
              <a:pPr marL="601160" lvl="1" indent="-300580">
                <a:lnSpc>
                  <a:spcPct val="120007"/>
                </a:lnSpc>
                <a:buClr>
                  <a:srgbClr val="1D1D1F"/>
                </a:buClr>
                <a:buSzPts val="2784"/>
                <a:buFont typeface="Arial"/>
                <a:buChar char="•"/>
              </a:pPr>
              <a:r>
                <a:rPr lang="en-US" sz="1700" b="0" i="0" u="none" strike="noStrike" cap="none">
                  <a:solidFill>
                    <a:srgbClr val="1D1D1F"/>
                  </a:solidFill>
                  <a:latin typeface="IBM Plex Sans" panose="020B0503050203000203" pitchFamily="34" charset="0"/>
                  <a:ea typeface="IBM Plex Sans"/>
                  <a:cs typeface="IBM Plex Sans"/>
                  <a:sym typeface="IBM Plex Sans"/>
                </a:rPr>
                <a:t>MVP - Repeatable authorized tests + evidence trail.</a:t>
              </a:r>
            </a:p>
            <a:p>
              <a:pPr marL="601160" lvl="1" indent="-300580">
                <a:lnSpc>
                  <a:spcPct val="120007"/>
                </a:lnSpc>
                <a:buClr>
                  <a:srgbClr val="1D1D1F"/>
                </a:buClr>
                <a:buSzPts val="2784"/>
                <a:buFont typeface="Arial"/>
                <a:buChar char="•"/>
              </a:pPr>
              <a:r>
                <a:rPr lang="en-US" sz="1700" b="0" i="0" u="none" strike="noStrike" cap="none">
                  <a:solidFill>
                    <a:srgbClr val="1D1D1F"/>
                  </a:solidFill>
                  <a:latin typeface="IBM Plex Sans" panose="020B0503050203000203" pitchFamily="34" charset="0"/>
                  <a:ea typeface="IBM Plex Sans"/>
                  <a:cs typeface="IBM Plex Sans"/>
                  <a:sym typeface="IBM Plex Sans"/>
                </a:rPr>
                <a:t>Next - More providers, threat mappings, and report formats.</a:t>
              </a:r>
            </a:p>
            <a:p>
              <a:pPr marL="601160" lvl="1" indent="-300580">
                <a:lnSpc>
                  <a:spcPct val="120007"/>
                </a:lnSpc>
                <a:buClr>
                  <a:srgbClr val="1D1D1F"/>
                </a:buClr>
                <a:buSzPts val="2784"/>
                <a:buFont typeface="Arial"/>
                <a:buChar char="•"/>
              </a:pPr>
              <a:r>
                <a:rPr lang="en-US" sz="1700" b="0" i="0" u="none" strike="noStrike" cap="none">
                  <a:solidFill>
                    <a:srgbClr val="1D1D1F"/>
                  </a:solidFill>
                  <a:latin typeface="IBM Plex Sans" panose="020B0503050203000203" pitchFamily="34" charset="0"/>
                  <a:ea typeface="IBM Plex Sans"/>
                  <a:cs typeface="IBM Plex Sans"/>
                  <a:sym typeface="IBM Plex Sans"/>
                </a:rPr>
                <a:t>Enterprise - Identity, integrations, collaboration, and controls.</a:t>
              </a:r>
            </a:p>
            <a:p>
              <a:pPr marL="601160" lvl="1" indent="-300580">
                <a:lnSpc>
                  <a:spcPct val="120007"/>
                </a:lnSpc>
                <a:buClr>
                  <a:srgbClr val="1D1D1F"/>
                </a:buClr>
                <a:buSzPts val="2784"/>
                <a:buFont typeface="Arial"/>
                <a:buChar char="•"/>
              </a:pPr>
              <a:r>
                <a:rPr lang="en-US" sz="1700" b="0" i="0" u="none" strike="noStrike" cap="none">
                  <a:solidFill>
                    <a:srgbClr val="1D1D1F"/>
                  </a:solidFill>
                  <a:latin typeface="IBM Plex Sans" panose="020B0503050203000203" pitchFamily="34" charset="0"/>
                  <a:ea typeface="IBM Plex Sans"/>
                  <a:cs typeface="IBM Plex Sans"/>
                  <a:sym typeface="IBM Plex Sans"/>
                </a:rPr>
                <a:t>Long term - Benchmark libraries and scalable global use.</a:t>
              </a:r>
              <a:endParaRPr sz="1700" b="0" i="0" u="none" strike="noStrike" cap="none">
                <a:solidFill>
                  <a:srgbClr val="1D1D1F"/>
                </a:solidFill>
                <a:latin typeface="IBM Plex Sans" panose="020B0503050203000203" pitchFamily="34" charset="0"/>
                <a:ea typeface="IBM Plex Sans"/>
                <a:cs typeface="IBM Plex Sans"/>
                <a:sym typeface="IBM Plex Sans"/>
              </a:endParaRPr>
            </a:p>
          </p:txBody>
        </p:sp>
        <p:sp>
          <p:nvSpPr>
            <p:cNvPr id="133" name="Google Shape;133;p18"/>
            <p:cNvSpPr txBox="1"/>
            <p:nvPr/>
          </p:nvSpPr>
          <p:spPr>
            <a:xfrm>
              <a:off x="1222710" y="3634640"/>
              <a:ext cx="14028700" cy="574949"/>
            </a:xfrm>
            <a:prstGeom prst="rect">
              <a:avLst/>
            </a:prstGeom>
            <a:noFill/>
            <a:ln>
              <a:noFill/>
            </a:ln>
          </p:spPr>
          <p:txBody>
            <a:bodyPr spcFirstLastPara="1" wrap="square" lIns="0" tIns="0" rIns="0" bIns="0" anchor="t" anchorCtr="0">
              <a:spAutoFit/>
            </a:bodyPr>
            <a:lstStyle/>
            <a:p>
              <a:pPr marL="0" marR="0" lvl="0" indent="0" algn="l" rtl="0">
                <a:lnSpc>
                  <a:spcPct val="185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134" name="Google Shape;134;p18" title="pptnlogo.png"/>
          <p:cNvPicPr preferRelativeResize="0"/>
          <p:nvPr/>
        </p:nvPicPr>
        <p:blipFill>
          <a:blip r:embed="rId3">
            <a:alphaModFix/>
          </a:blip>
          <a:stretch>
            <a:fillRect/>
          </a:stretch>
        </p:blipFill>
        <p:spPr>
          <a:xfrm>
            <a:off x="0" y="0"/>
            <a:ext cx="18288000" cy="120551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9"/>
          <p:cNvSpPr txBox="1"/>
          <p:nvPr/>
        </p:nvSpPr>
        <p:spPr>
          <a:xfrm>
            <a:off x="-1537303" y="1601204"/>
            <a:ext cx="9064063" cy="10739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3095" b="1" i="0" u="none" strike="noStrike" cap="none">
                <a:solidFill>
                  <a:srgbClr val="000000"/>
                </a:solidFill>
                <a:latin typeface="Montserrat"/>
                <a:ea typeface="Montserrat"/>
                <a:cs typeface="Montserrat"/>
                <a:sym typeface="Montserrat"/>
              </a:rPr>
              <a:t> EXTRA(OPTIONAL)</a:t>
            </a:r>
            <a:endParaRPr/>
          </a:p>
          <a:p>
            <a:pPr marL="0" marR="0" lvl="0" indent="0" algn="ctr" rtl="0">
              <a:lnSpc>
                <a:spcPct val="140000"/>
              </a:lnSpc>
              <a:spcBef>
                <a:spcPts val="0"/>
              </a:spcBef>
              <a:spcAft>
                <a:spcPts val="0"/>
              </a:spcAft>
              <a:buNone/>
            </a:pPr>
            <a:endParaRPr sz="3095" b="1" i="0" u="none" strike="noStrike" cap="none">
              <a:solidFill>
                <a:srgbClr val="000000"/>
              </a:solidFill>
              <a:latin typeface="Montserrat"/>
              <a:ea typeface="Montserrat"/>
              <a:cs typeface="Montserrat"/>
              <a:sym typeface="Montserrat"/>
            </a:endParaRPr>
          </a:p>
        </p:txBody>
      </p:sp>
      <p:grpSp>
        <p:nvGrpSpPr>
          <p:cNvPr id="140" name="Google Shape;140;p19"/>
          <p:cNvGrpSpPr/>
          <p:nvPr/>
        </p:nvGrpSpPr>
        <p:grpSpPr>
          <a:xfrm>
            <a:off x="2196451" y="2405409"/>
            <a:ext cx="11438558" cy="2738091"/>
            <a:chOff x="0" y="0"/>
            <a:chExt cx="15251410" cy="3650789"/>
          </a:xfrm>
        </p:grpSpPr>
        <p:sp>
          <p:nvSpPr>
            <p:cNvPr id="141" name="Google Shape;141;p19"/>
            <p:cNvSpPr txBox="1"/>
            <p:nvPr/>
          </p:nvSpPr>
          <p:spPr>
            <a:xfrm>
              <a:off x="0" y="0"/>
              <a:ext cx="15251399" cy="1846661"/>
            </a:xfrm>
            <a:prstGeom prst="rect">
              <a:avLst/>
            </a:prstGeom>
            <a:noFill/>
            <a:ln>
              <a:noFill/>
            </a:ln>
          </p:spPr>
          <p:txBody>
            <a:bodyPr spcFirstLastPara="1" wrap="square" lIns="0" tIns="0" rIns="0" bIns="0" anchor="t" anchorCtr="0">
              <a:spAutoFit/>
            </a:bodyPr>
            <a:lstStyle/>
            <a:p>
              <a:pPr marL="0" marR="0" lvl="0" indent="0" algn="l" rtl="0">
                <a:lnSpc>
                  <a:spcPct val="119986"/>
                </a:lnSpc>
                <a:spcBef>
                  <a:spcPts val="0"/>
                </a:spcBef>
                <a:spcAft>
                  <a:spcPts val="0"/>
                </a:spcAft>
                <a:buNone/>
              </a:pPr>
              <a:r>
                <a:rPr lang="en-IN" sz="1500">
                  <a:latin typeface="IBM Plex Sans" panose="020B0503050203000203" pitchFamily="34" charset="0"/>
                </a:rPr>
                <a:t>SAFEGUARDS &amp; CREDIBILITY</a:t>
              </a:r>
            </a:p>
            <a:p>
              <a:pPr marL="342900" indent="-342900">
                <a:lnSpc>
                  <a:spcPct val="119986"/>
                </a:lnSpc>
                <a:buFont typeface="+mj-lt"/>
                <a:buChar char="•"/>
              </a:pPr>
              <a:r>
                <a:rPr lang="en-IN" sz="1500">
                  <a:latin typeface="IBM Plex Sans" panose="020B0503050203000203" pitchFamily="34" charset="0"/>
                </a:rPr>
                <a:t>Authorized scope + approved public-source allowlist</a:t>
              </a:r>
            </a:p>
            <a:p>
              <a:pPr marL="342900" indent="-342900">
                <a:lnSpc>
                  <a:spcPct val="119986"/>
                </a:lnSpc>
                <a:buFont typeface="+mj-lt"/>
                <a:buChar char="•"/>
              </a:pPr>
              <a:r>
                <a:rPr lang="en-IN" sz="1500">
                  <a:latin typeface="IBM Plex Sans" panose="020B0503050203000203" pitchFamily="34" charset="0"/>
                </a:rPr>
                <a:t>RBAC + tenant isolation + tamper-evident audit</a:t>
              </a:r>
            </a:p>
            <a:p>
              <a:pPr marL="342900" indent="-342900">
                <a:lnSpc>
                  <a:spcPct val="119986"/>
                </a:lnSpc>
                <a:buFont typeface="+mj-lt"/>
                <a:buChar char="•"/>
              </a:pPr>
              <a:r>
                <a:rPr lang="en-IN" sz="1500">
                  <a:latin typeface="IBM Plex Sans" panose="020B0503050203000203" pitchFamily="34" charset="0"/>
                </a:rPr>
                <a:t>Untrusted content stays separate; evidence is marked unverified</a:t>
              </a:r>
            </a:p>
            <a:p>
              <a:pPr marL="342900" indent="-342900">
                <a:lnSpc>
                  <a:spcPct val="119986"/>
                </a:lnSpc>
                <a:buFont typeface="+mj-lt"/>
                <a:buChar char="•"/>
              </a:pPr>
              <a:r>
                <a:rPr lang="en-IN" sz="1500">
                  <a:latin typeface="IBM Plex Sans" panose="020B0503050203000203" pitchFamily="34" charset="0"/>
                </a:rPr>
                <a:t>Sources: OWASP GenAI 2025 | NIST AI RMF | MITRE ATLAS</a:t>
              </a:r>
              <a:endParaRPr sz="1500" b="0" i="0" u="none" strike="noStrike" cap="none">
                <a:solidFill>
                  <a:srgbClr val="1D1D1F"/>
                </a:solidFill>
                <a:latin typeface="IBM Plex Sans" panose="020B0503050203000203" pitchFamily="34" charset="0"/>
                <a:ea typeface="IBM Plex Sans"/>
                <a:cs typeface="IBM Plex Sans"/>
                <a:sym typeface="IBM Plex Sans"/>
              </a:endParaRPr>
            </a:p>
          </p:txBody>
        </p:sp>
        <p:sp>
          <p:nvSpPr>
            <p:cNvPr id="142" name="Google Shape;142;p19"/>
            <p:cNvSpPr txBox="1"/>
            <p:nvPr/>
          </p:nvSpPr>
          <p:spPr>
            <a:xfrm>
              <a:off x="1222710" y="3075840"/>
              <a:ext cx="14028700" cy="574949"/>
            </a:xfrm>
            <a:prstGeom prst="rect">
              <a:avLst/>
            </a:prstGeom>
            <a:noFill/>
            <a:ln>
              <a:noFill/>
            </a:ln>
          </p:spPr>
          <p:txBody>
            <a:bodyPr spcFirstLastPara="1" wrap="square" lIns="0" tIns="0" rIns="0" bIns="0" anchor="t" anchorCtr="0">
              <a:spAutoFit/>
            </a:bodyPr>
            <a:lstStyle/>
            <a:p>
              <a:pPr marL="0" marR="0" lvl="0" indent="0" algn="l" rtl="0">
                <a:lnSpc>
                  <a:spcPct val="185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143" name="Google Shape;143;p19" title="pptnlogo.png"/>
          <p:cNvPicPr preferRelativeResize="0"/>
          <p:nvPr/>
        </p:nvPicPr>
        <p:blipFill>
          <a:blip r:embed="rId3">
            <a:alphaModFix/>
          </a:blip>
          <a:stretch>
            <a:fillRect/>
          </a:stretch>
        </p:blipFill>
        <p:spPr>
          <a:xfrm>
            <a:off x="0" y="0"/>
            <a:ext cx="18288000" cy="120551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grpSp>
        <p:nvGrpSpPr>
          <p:cNvPr id="148" name="Google Shape;148;p20"/>
          <p:cNvGrpSpPr/>
          <p:nvPr/>
        </p:nvGrpSpPr>
        <p:grpSpPr>
          <a:xfrm>
            <a:off x="4239144" y="5736501"/>
            <a:ext cx="8898075" cy="2077107"/>
            <a:chOff x="0" y="180975"/>
            <a:chExt cx="11864100" cy="2769476"/>
          </a:xfrm>
        </p:grpSpPr>
        <p:sp>
          <p:nvSpPr>
            <p:cNvPr id="149" name="Google Shape;149;p20"/>
            <p:cNvSpPr txBox="1"/>
            <p:nvPr/>
          </p:nvSpPr>
          <p:spPr>
            <a:xfrm>
              <a:off x="0" y="180975"/>
              <a:ext cx="11864100" cy="369300"/>
            </a:xfrm>
            <a:prstGeom prst="rect">
              <a:avLst/>
            </a:prstGeom>
            <a:noFill/>
            <a:ln>
              <a:noFill/>
            </a:ln>
          </p:spPr>
          <p:txBody>
            <a:bodyPr spcFirstLastPara="1" wrap="square" lIns="0" tIns="0" rIns="0" bIns="0" anchor="t" anchorCtr="0">
              <a:spAutoFit/>
            </a:bodyPr>
            <a:lstStyle/>
            <a:p>
              <a:pPr marL="0" marR="0" lvl="0" indent="0" algn="ctr" rtl="0">
                <a:lnSpc>
                  <a:spcPct val="76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0" name="Google Shape;150;p20"/>
            <p:cNvSpPr txBox="1"/>
            <p:nvPr/>
          </p:nvSpPr>
          <p:spPr>
            <a:xfrm>
              <a:off x="0" y="2581151"/>
              <a:ext cx="11864100" cy="369300"/>
            </a:xfrm>
            <a:prstGeom prst="rect">
              <a:avLst/>
            </a:prstGeom>
            <a:noFill/>
            <a:ln>
              <a:noFill/>
            </a:ln>
          </p:spPr>
          <p:txBody>
            <a:bodyPr spcFirstLastPara="1" wrap="square" lIns="0" tIns="0" rIns="0" bIns="0" anchor="t" anchorCtr="0">
              <a:spAutoFit/>
            </a:bodyPr>
            <a:lstStyle/>
            <a:p>
              <a:pPr marL="0" marR="0" lvl="0" indent="0" algn="ctr" rtl="0">
                <a:lnSpc>
                  <a:spcPct val="76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1" name="Google Shape;151;p20"/>
          <p:cNvGrpSpPr/>
          <p:nvPr/>
        </p:nvGrpSpPr>
        <p:grpSpPr>
          <a:xfrm>
            <a:off x="2554002" y="5409216"/>
            <a:ext cx="12268350" cy="1305429"/>
            <a:chOff x="0" y="19050"/>
            <a:chExt cx="16357800" cy="1740572"/>
          </a:xfrm>
        </p:grpSpPr>
        <p:sp>
          <p:nvSpPr>
            <p:cNvPr id="152" name="Google Shape;152;p20"/>
            <p:cNvSpPr txBox="1"/>
            <p:nvPr/>
          </p:nvSpPr>
          <p:spPr>
            <a:xfrm>
              <a:off x="0" y="19050"/>
              <a:ext cx="16357800" cy="369300"/>
            </a:xfrm>
            <a:prstGeom prst="rect">
              <a:avLst/>
            </a:prstGeom>
            <a:noFill/>
            <a:ln>
              <a:noFill/>
            </a:ln>
          </p:spPr>
          <p:txBody>
            <a:bodyPr spcFirstLastPara="1" wrap="square" lIns="0" tIns="0" rIns="0" bIns="0" anchor="t" anchorCtr="0">
              <a:spAutoFit/>
            </a:bodyPr>
            <a:lstStyle/>
            <a:p>
              <a:pPr marL="0" marR="0" lvl="0" indent="0" algn="ctr" rtl="0">
                <a:lnSpc>
                  <a:spcPct val="4091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3" name="Google Shape;153;p20"/>
            <p:cNvSpPr txBox="1"/>
            <p:nvPr/>
          </p:nvSpPr>
          <p:spPr>
            <a:xfrm>
              <a:off x="0" y="1390322"/>
              <a:ext cx="16357800" cy="369300"/>
            </a:xfrm>
            <a:prstGeom prst="rect">
              <a:avLst/>
            </a:prstGeom>
            <a:noFill/>
            <a:ln>
              <a:noFill/>
            </a:ln>
          </p:spPr>
          <p:txBody>
            <a:bodyPr spcFirstLastPara="1" wrap="square" lIns="0" tIns="0" rIns="0" bIns="0" anchor="t" anchorCtr="0">
              <a:spAutoFit/>
            </a:bodyPr>
            <a:lstStyle/>
            <a:p>
              <a:pPr marL="0" marR="0" lvl="0" indent="0" algn="ctr" rtl="0">
                <a:lnSpc>
                  <a:spcPct val="7018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4" name="Google Shape;154;p20"/>
          <p:cNvGrpSpPr/>
          <p:nvPr/>
        </p:nvGrpSpPr>
        <p:grpSpPr>
          <a:xfrm>
            <a:off x="1873714" y="4696929"/>
            <a:ext cx="13628822" cy="4488047"/>
            <a:chOff x="2753902" y="4797891"/>
            <a:chExt cx="13628822" cy="4488047"/>
          </a:xfrm>
        </p:grpSpPr>
        <p:sp>
          <p:nvSpPr>
            <p:cNvPr id="155" name="Google Shape;155;p20"/>
            <p:cNvSpPr txBox="1"/>
            <p:nvPr/>
          </p:nvSpPr>
          <p:spPr>
            <a:xfrm rot="-348051">
              <a:off x="2847493" y="5401630"/>
              <a:ext cx="12071717" cy="2462422"/>
            </a:xfrm>
            <a:prstGeom prst="rect">
              <a:avLst/>
            </a:prstGeom>
            <a:noFill/>
            <a:ln>
              <a:noFill/>
            </a:ln>
          </p:spPr>
          <p:txBody>
            <a:bodyPr spcFirstLastPara="1" wrap="square" lIns="0" tIns="0" rIns="0" bIns="0" anchor="t" anchorCtr="0">
              <a:spAutoFit/>
            </a:bodyPr>
            <a:lstStyle/>
            <a:p>
              <a:pPr marL="0" marR="0" lvl="0" indent="0" algn="ctr" rtl="0">
                <a:lnSpc>
                  <a:spcPct val="54998"/>
                </a:lnSpc>
                <a:spcBef>
                  <a:spcPts val="0"/>
                </a:spcBef>
                <a:spcAft>
                  <a:spcPts val="0"/>
                </a:spcAft>
                <a:buNone/>
              </a:pPr>
              <a:r>
                <a:rPr lang="en-US" sz="29088" i="0" u="none" strike="noStrike" cap="none">
                  <a:solidFill>
                    <a:srgbClr val="1D1D1F"/>
                  </a:solidFill>
                  <a:latin typeface="Caveat"/>
                  <a:ea typeface="Caveat"/>
                  <a:cs typeface="Caveat"/>
                  <a:sym typeface="Caveat"/>
                </a:rPr>
                <a:t>Thank</a:t>
              </a:r>
              <a:endParaRPr>
                <a:latin typeface="Caveat"/>
                <a:ea typeface="Caveat"/>
                <a:cs typeface="Caveat"/>
                <a:sym typeface="Caveat"/>
              </a:endParaRPr>
            </a:p>
          </p:txBody>
        </p:sp>
        <p:sp>
          <p:nvSpPr>
            <p:cNvPr id="156" name="Google Shape;156;p20"/>
            <p:cNvSpPr txBox="1"/>
            <p:nvPr/>
          </p:nvSpPr>
          <p:spPr>
            <a:xfrm>
              <a:off x="4695023" y="6732039"/>
              <a:ext cx="11687700" cy="2553900"/>
            </a:xfrm>
            <a:prstGeom prst="rect">
              <a:avLst/>
            </a:prstGeom>
            <a:noFill/>
            <a:ln>
              <a:noFill/>
            </a:ln>
          </p:spPr>
          <p:txBody>
            <a:bodyPr spcFirstLastPara="1" wrap="square" lIns="0" tIns="0" rIns="0" bIns="0" anchor="t" anchorCtr="0">
              <a:spAutoFit/>
            </a:bodyPr>
            <a:lstStyle/>
            <a:p>
              <a:pPr marL="0" marR="0" lvl="0" indent="0" algn="ctr" rtl="0">
                <a:lnSpc>
                  <a:spcPct val="55000"/>
                </a:lnSpc>
                <a:spcBef>
                  <a:spcPts val="0"/>
                </a:spcBef>
                <a:spcAft>
                  <a:spcPts val="0"/>
                </a:spcAft>
                <a:buNone/>
              </a:pPr>
              <a:r>
                <a:rPr lang="en-US" sz="30167" i="0" u="none" strike="noStrike" cap="none">
                  <a:solidFill>
                    <a:srgbClr val="1D1D1F"/>
                  </a:solidFill>
                  <a:latin typeface="Caveat"/>
                  <a:ea typeface="Caveat"/>
                  <a:cs typeface="Caveat"/>
                  <a:sym typeface="Caveat"/>
                </a:rPr>
                <a:t>you!</a:t>
              </a:r>
              <a:endParaRPr>
                <a:latin typeface="Caveat"/>
                <a:ea typeface="Caveat"/>
                <a:cs typeface="Caveat"/>
                <a:sym typeface="Caveat"/>
              </a:endParaRPr>
            </a:p>
          </p:txBody>
        </p:sp>
      </p:grpSp>
      <p:pic>
        <p:nvPicPr>
          <p:cNvPr id="157" name="Google Shape;157;p20" title="download (2).jpg"/>
          <p:cNvPicPr preferRelativeResize="0"/>
          <p:nvPr/>
        </p:nvPicPr>
        <p:blipFill rotWithShape="1">
          <a:blip r:embed="rId3">
            <a:alphaModFix/>
          </a:blip>
          <a:srcRect l="38928" r="16455"/>
          <a:stretch/>
        </p:blipFill>
        <p:spPr>
          <a:xfrm rot="-5400000">
            <a:off x="7123100" y="-7111200"/>
            <a:ext cx="4088375" cy="18326624"/>
          </a:xfrm>
          <a:prstGeom prst="rect">
            <a:avLst/>
          </a:prstGeom>
          <a:noFill/>
          <a:ln>
            <a:noFill/>
          </a:ln>
        </p:spPr>
      </p:pic>
      <p:pic>
        <p:nvPicPr>
          <p:cNvPr id="158" name="Google Shape;158;p20" title="Group 48097831.png"/>
          <p:cNvPicPr preferRelativeResize="0"/>
          <p:nvPr/>
        </p:nvPicPr>
        <p:blipFill>
          <a:blip r:embed="rId4">
            <a:alphaModFix/>
          </a:blip>
          <a:stretch>
            <a:fillRect/>
          </a:stretch>
        </p:blipFill>
        <p:spPr>
          <a:xfrm>
            <a:off x="318675" y="296224"/>
            <a:ext cx="7240346" cy="791925"/>
          </a:xfrm>
          <a:prstGeom prst="rect">
            <a:avLst/>
          </a:prstGeom>
          <a:noFill/>
          <a:ln>
            <a:noFill/>
          </a:ln>
        </p:spPr>
      </p:pic>
      <p:pic>
        <p:nvPicPr>
          <p:cNvPr id="159" name="Google Shape;159;p20" title="Logo.png"/>
          <p:cNvPicPr preferRelativeResize="0"/>
          <p:nvPr/>
        </p:nvPicPr>
        <p:blipFill>
          <a:blip r:embed="rId5">
            <a:alphaModFix/>
          </a:blip>
          <a:stretch>
            <a:fillRect/>
          </a:stretch>
        </p:blipFill>
        <p:spPr>
          <a:xfrm>
            <a:off x="12520575" y="296231"/>
            <a:ext cx="5599601" cy="7919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