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B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her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B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6419088" cy="6858000"/>
          </a:xfrm>
          <a:prstGeom prst="rect">
            <a:avLst/>
          </a:prstGeom>
          <a:solidFill>
            <a:srgbClr val="070B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943600" y="0"/>
            <a:ext cx="475488" cy="6858000"/>
          </a:xfrm>
          <a:prstGeom prst="rect">
            <a:avLst/>
          </a:prstGeom>
          <a:solidFill>
            <a:srgbClr val="070B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" name="Connector 6"/>
          <p:cNvCxnSpPr/>
          <p:nvPr/>
        </p:nvCxnSpPr>
        <p:spPr>
          <a:xfrm>
            <a:off x="658368" y="685800"/>
            <a:ext cx="0" cy="5257800"/>
          </a:xfrm>
          <a:prstGeom prst="line">
            <a:avLst/>
          </a:prstGeom>
          <a:ln w="5715">
            <a:solidFill>
              <a:srgbClr val="1E2D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1133856" y="685800"/>
            <a:ext cx="0" cy="5257800"/>
          </a:xfrm>
          <a:prstGeom prst="line">
            <a:avLst/>
          </a:prstGeom>
          <a:ln w="5715">
            <a:solidFill>
              <a:srgbClr val="1E2D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1609344" y="685800"/>
            <a:ext cx="0" cy="5257800"/>
          </a:xfrm>
          <a:prstGeom prst="line">
            <a:avLst/>
          </a:prstGeom>
          <a:ln w="5715">
            <a:solidFill>
              <a:srgbClr val="1E2D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2084832" y="685800"/>
            <a:ext cx="0" cy="5257800"/>
          </a:xfrm>
          <a:prstGeom prst="line">
            <a:avLst/>
          </a:prstGeom>
          <a:ln w="5715">
            <a:solidFill>
              <a:srgbClr val="1E2D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2560320" y="685800"/>
            <a:ext cx="0" cy="5257800"/>
          </a:xfrm>
          <a:prstGeom prst="line">
            <a:avLst/>
          </a:prstGeom>
          <a:ln w="5715">
            <a:solidFill>
              <a:srgbClr val="1E2D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3035808" y="685800"/>
            <a:ext cx="0" cy="5257800"/>
          </a:xfrm>
          <a:prstGeom prst="line">
            <a:avLst/>
          </a:prstGeom>
          <a:ln w="5715">
            <a:solidFill>
              <a:srgbClr val="1E2D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3511296" y="685800"/>
            <a:ext cx="0" cy="5257800"/>
          </a:xfrm>
          <a:prstGeom prst="line">
            <a:avLst/>
          </a:prstGeom>
          <a:ln w="5715">
            <a:solidFill>
              <a:srgbClr val="1E2D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3986784" y="685800"/>
            <a:ext cx="0" cy="5257800"/>
          </a:xfrm>
          <a:prstGeom prst="line">
            <a:avLst/>
          </a:prstGeom>
          <a:ln w="5715">
            <a:solidFill>
              <a:srgbClr val="1E2D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4462272" y="685800"/>
            <a:ext cx="0" cy="5257800"/>
          </a:xfrm>
          <a:prstGeom prst="line">
            <a:avLst/>
          </a:prstGeom>
          <a:ln w="5715">
            <a:solidFill>
              <a:srgbClr val="1E2D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4937760" y="685800"/>
            <a:ext cx="0" cy="5257800"/>
          </a:xfrm>
          <a:prstGeom prst="line">
            <a:avLst/>
          </a:prstGeom>
          <a:ln w="5715">
            <a:solidFill>
              <a:srgbClr val="1E2D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5413248" y="685800"/>
            <a:ext cx="0" cy="5257800"/>
          </a:xfrm>
          <a:prstGeom prst="line">
            <a:avLst/>
          </a:prstGeom>
          <a:ln w="5715">
            <a:solidFill>
              <a:srgbClr val="1E2D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658368" y="685800"/>
            <a:ext cx="4937760" cy="0"/>
          </a:xfrm>
          <a:prstGeom prst="line">
            <a:avLst/>
          </a:prstGeom>
          <a:ln w="5715">
            <a:solidFill>
              <a:srgbClr val="1E2D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658368" y="1161288"/>
            <a:ext cx="4937760" cy="0"/>
          </a:xfrm>
          <a:prstGeom prst="line">
            <a:avLst/>
          </a:prstGeom>
          <a:ln w="5715">
            <a:solidFill>
              <a:srgbClr val="1E2D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658368" y="1636776"/>
            <a:ext cx="4937760" cy="0"/>
          </a:xfrm>
          <a:prstGeom prst="line">
            <a:avLst/>
          </a:prstGeom>
          <a:ln w="5715">
            <a:solidFill>
              <a:srgbClr val="1E2D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658368" y="2112264"/>
            <a:ext cx="4937760" cy="0"/>
          </a:xfrm>
          <a:prstGeom prst="line">
            <a:avLst/>
          </a:prstGeom>
          <a:ln w="5715">
            <a:solidFill>
              <a:srgbClr val="1E2D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658368" y="2587752"/>
            <a:ext cx="4937760" cy="0"/>
          </a:xfrm>
          <a:prstGeom prst="line">
            <a:avLst/>
          </a:prstGeom>
          <a:ln w="5715">
            <a:solidFill>
              <a:srgbClr val="1E2D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658368" y="3063240"/>
            <a:ext cx="4937760" cy="0"/>
          </a:xfrm>
          <a:prstGeom prst="line">
            <a:avLst/>
          </a:prstGeom>
          <a:ln w="5715">
            <a:solidFill>
              <a:srgbClr val="1E2D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658368" y="3538728"/>
            <a:ext cx="4937760" cy="0"/>
          </a:xfrm>
          <a:prstGeom prst="line">
            <a:avLst/>
          </a:prstGeom>
          <a:ln w="5715">
            <a:solidFill>
              <a:srgbClr val="1E2D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658368" y="4014216"/>
            <a:ext cx="4937760" cy="0"/>
          </a:xfrm>
          <a:prstGeom prst="line">
            <a:avLst/>
          </a:prstGeom>
          <a:ln w="5715">
            <a:solidFill>
              <a:srgbClr val="1E2D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658368" y="4489704"/>
            <a:ext cx="4937760" cy="0"/>
          </a:xfrm>
          <a:prstGeom prst="line">
            <a:avLst/>
          </a:prstGeom>
          <a:ln w="5715">
            <a:solidFill>
              <a:srgbClr val="1E2D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658368" y="4965192"/>
            <a:ext cx="4937760" cy="0"/>
          </a:xfrm>
          <a:prstGeom prst="line">
            <a:avLst/>
          </a:prstGeom>
          <a:ln w="5715">
            <a:solidFill>
              <a:srgbClr val="1E2D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658368" y="5440679"/>
            <a:ext cx="4937760" cy="0"/>
          </a:xfrm>
          <a:prstGeom prst="line">
            <a:avLst/>
          </a:prstGeom>
          <a:ln w="5715">
            <a:solidFill>
              <a:srgbClr val="1E2D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658368" y="5916167"/>
            <a:ext cx="4937760" cy="0"/>
          </a:xfrm>
          <a:prstGeom prst="line">
            <a:avLst/>
          </a:prstGeom>
          <a:ln w="5715">
            <a:solidFill>
              <a:srgbClr val="1E2D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658368" y="932688"/>
            <a:ext cx="1005840" cy="0"/>
          </a:xfrm>
          <a:prstGeom prst="line">
            <a:avLst/>
          </a:prstGeom>
          <a:ln w="29209">
            <a:solidFill>
              <a:srgbClr val="66F4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658368" y="1161288"/>
            <a:ext cx="5303520" cy="7132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4400" b="1" i="0" spc="-35">
                <a:solidFill>
                  <a:srgbClr val="F4F7FB"/>
                </a:solidFill>
                <a:latin typeface="Aptos Display"/>
              </a:rPr>
              <a:t>BAYORA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76656" y="2029968"/>
            <a:ext cx="5120640" cy="1371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500" b="1" i="0" spc="-15">
                <a:solidFill>
                  <a:srgbClr val="F4F7FB"/>
                </a:solidFill>
                <a:latin typeface="Aptos Display"/>
              </a:rPr>
              <a:t>ATTACK THE MODEL.
PROVE THE BOUNDARY.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76656" y="3584448"/>
            <a:ext cx="713232" cy="73152"/>
          </a:xfrm>
          <a:prstGeom prst="rect">
            <a:avLst/>
          </a:prstGeom>
          <a:solidFill>
            <a:srgbClr val="FF53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1481328" y="3584448"/>
            <a:ext cx="713232" cy="73152"/>
          </a:xfrm>
          <a:prstGeom prst="rect">
            <a:avLst/>
          </a:prstGeom>
          <a:solidFill>
            <a:srgbClr val="5D9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76656" y="3913632"/>
            <a:ext cx="4709160" cy="6583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A8B4C6"/>
                </a:solidFill>
                <a:latin typeface="Aptos"/>
              </a:rPr>
              <a:t>Secure adversarial AI testing infrastructure for repeatable,
 evidence-backed security evaluation.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76656" y="4983480"/>
            <a:ext cx="1005840" cy="237744"/>
          </a:xfrm>
          <a:prstGeom prst="roundRect">
            <a:avLst/>
          </a:prstGeom>
          <a:solidFill>
            <a:srgbClr val="2A121B"/>
          </a:solidFill>
          <a:ln w="10160">
            <a:solidFill>
              <a:srgbClr val="FF53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76656" y="4992624"/>
            <a:ext cx="1005840" cy="201168"/>
          </a:xfrm>
          <a:prstGeom prst="rect">
            <a:avLst/>
          </a:prstGeom>
          <a:noFill/>
        </p:spPr>
        <p:txBody>
          <a:bodyPr wrap="square" lIns="9144" rIns="9144" tIns="9144" bIns="9144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F4F7FB"/>
                </a:solidFill>
                <a:latin typeface="Aptos Mono"/>
              </a:rPr>
              <a:t>RED TEAM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1810512" y="4983480"/>
            <a:ext cx="1078992" cy="237744"/>
          </a:xfrm>
          <a:prstGeom prst="roundRect">
            <a:avLst/>
          </a:prstGeom>
          <a:solidFill>
            <a:srgbClr val="101D39"/>
          </a:solidFill>
          <a:ln w="10160">
            <a:solidFill>
              <a:srgbClr val="5D9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810512" y="4992624"/>
            <a:ext cx="1078992" cy="201168"/>
          </a:xfrm>
          <a:prstGeom prst="rect">
            <a:avLst/>
          </a:prstGeom>
          <a:noFill/>
        </p:spPr>
        <p:txBody>
          <a:bodyPr wrap="square" lIns="9144" rIns="9144" tIns="9144" bIns="9144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F4F7FB"/>
                </a:solidFill>
                <a:latin typeface="Aptos Mono"/>
              </a:rPr>
              <a:t>BLUE TEAM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2999232" y="4983480"/>
            <a:ext cx="804672" cy="237744"/>
          </a:xfrm>
          <a:prstGeom prst="roundRect">
            <a:avLst/>
          </a:prstGeom>
          <a:solidFill>
            <a:srgbClr val="0D2826"/>
          </a:solidFill>
          <a:ln w="10160">
            <a:solidFill>
              <a:srgbClr val="66F4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2999232" y="4992624"/>
            <a:ext cx="804672" cy="201168"/>
          </a:xfrm>
          <a:prstGeom prst="rect">
            <a:avLst/>
          </a:prstGeom>
          <a:noFill/>
        </p:spPr>
        <p:txBody>
          <a:bodyPr wrap="square" lIns="9144" rIns="9144" tIns="9144" bIns="9144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F4F7FB"/>
                </a:solidFill>
                <a:latin typeface="Aptos Mono"/>
              </a:rPr>
              <a:t>AUDIT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85800" y="5669280"/>
            <a:ext cx="5349240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19" b="1" i="0" spc="32">
                <a:solidFill>
                  <a:srgbClr val="F4F7FB"/>
                </a:solidFill>
                <a:latin typeface="Aptos Mono"/>
              </a:rPr>
              <a:t>FROM PROMPT  →  POLICY  →  ISOLATED WORKER  →  AUDIT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76656" y="6217920"/>
            <a:ext cx="438912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40" b="1" i="0" spc="92">
                <a:solidFill>
                  <a:srgbClr val="70819A"/>
                </a:solidFill>
                <a:latin typeface="Aptos Mono"/>
              </a:rPr>
              <a:t>HACK IN HILLS / HACKATHON PITCH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972800" y="411480"/>
            <a:ext cx="548640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66F4D0"/>
                </a:solidFill>
                <a:latin typeface="Aptos Mono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B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quie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B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" name="Connector 4"/>
          <p:cNvCxnSpPr/>
          <p:nvPr/>
        </p:nvCxnSpPr>
        <p:spPr>
          <a:xfrm>
            <a:off x="658368" y="329184"/>
            <a:ext cx="10881360" cy="0"/>
          </a:xfrm>
          <a:prstGeom prst="line">
            <a:avLst/>
          </a:prstGeom>
          <a:ln w="10160">
            <a:solidFill>
              <a:srgbClr val="1E2D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58368" y="109728"/>
            <a:ext cx="384048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20" b="1" i="0" spc="100">
                <a:solidFill>
                  <a:srgbClr val="70819A"/>
                </a:solidFill>
                <a:latin typeface="Aptos Mono"/>
              </a:rPr>
              <a:t>BAYORA / THE GAP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45952" y="91440"/>
            <a:ext cx="45720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66F4D0"/>
                </a:solidFill>
                <a:latin typeface="Aptos Mono"/>
              </a:rPr>
              <a:t>02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658368" y="6510528"/>
            <a:ext cx="10881360" cy="0"/>
          </a:xfrm>
          <a:prstGeom prst="line">
            <a:avLst/>
          </a:prstGeom>
          <a:ln w="10160">
            <a:solidFill>
              <a:srgbClr val="1E2D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658368" y="6601968"/>
            <a:ext cx="4206240" cy="1371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680" b="1" i="0" spc="85">
                <a:solidFill>
                  <a:srgbClr val="70819A"/>
                </a:solidFill>
                <a:latin typeface="Aptos Mono"/>
              </a:rPr>
              <a:t>ATTACK SURFACE → POLICY → EVIDENCE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58200" y="6601968"/>
            <a:ext cx="3081528" cy="1371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680" b="1" i="0" spc="70">
                <a:solidFill>
                  <a:srgbClr val="70819A"/>
                </a:solidFill>
                <a:latin typeface="Aptos Mono"/>
              </a:rPr>
              <a:t>HACK IN HILLS / PITCH DECK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621792"/>
            <a:ext cx="603504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1" i="0" spc="120">
                <a:solidFill>
                  <a:srgbClr val="66F4D0"/>
                </a:solidFill>
                <a:latin typeface="Aptos Mono"/>
              </a:rPr>
              <a:t>THE PROBLEM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896112"/>
            <a:ext cx="6035040" cy="6583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 spc="-10">
                <a:solidFill>
                  <a:srgbClr val="F4F7FB"/>
                </a:solidFill>
                <a:latin typeface="Aptos Display"/>
              </a:rPr>
              <a:t>AI doesn’t fail in a lab.
It fails at the boundary.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" y="1609344"/>
            <a:ext cx="6035040" cy="4754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A8B4C6"/>
                </a:solidFill>
                <a:latin typeface="Aptos"/>
              </a:rPr>
              <a:t>A crafted prompt, a poisoned document, or the wrong session can turn a useful model into a security incident.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635240" y="786384"/>
            <a:ext cx="3913632" cy="4315968"/>
          </a:xfrm>
          <a:prstGeom prst="roundRect">
            <a:avLst/>
          </a:prstGeom>
          <a:solidFill>
            <a:srgbClr val="111B2B"/>
          </a:solidFill>
          <a:ln w="10160">
            <a:solidFill>
              <a:srgbClr val="1E2D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955279" y="1078992"/>
            <a:ext cx="292608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1" i="0" spc="90">
                <a:solidFill>
                  <a:srgbClr val="FF536E"/>
                </a:solidFill>
                <a:latin typeface="Aptos Mono"/>
              </a:rPr>
              <a:t>THE ATTACK SURFACE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7955279" y="1408176"/>
            <a:ext cx="3291841" cy="0"/>
          </a:xfrm>
          <a:prstGeom prst="line">
            <a:avLst/>
          </a:prstGeom>
          <a:ln w="10160">
            <a:solidFill>
              <a:srgbClr val="1E2D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Oval 16"/>
          <p:cNvSpPr/>
          <p:nvPr/>
        </p:nvSpPr>
        <p:spPr>
          <a:xfrm>
            <a:off x="7973568" y="1700784"/>
            <a:ext cx="384048" cy="384048"/>
          </a:xfrm>
          <a:prstGeom prst="ellipse">
            <a:avLst/>
          </a:prstGeom>
          <a:solidFill>
            <a:srgbClr val="FF53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973568" y="1709928"/>
            <a:ext cx="384048" cy="36576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070B13"/>
                </a:solidFill>
                <a:latin typeface="Aptos Mono"/>
              </a:rPr>
              <a:t>01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49640" y="1691640"/>
            <a:ext cx="2615184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30" b="1" i="0" spc="28">
                <a:solidFill>
                  <a:srgbClr val="F4F7FB"/>
                </a:solidFill>
                <a:latin typeface="Aptos Mono"/>
              </a:rPr>
              <a:t>UNTRUSTED INPUT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49640" y="1956816"/>
            <a:ext cx="2670048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A8B4C6"/>
                </a:solidFill>
                <a:latin typeface="Aptos"/>
              </a:rPr>
              <a:t>Prompt injection / poisoned content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8165592" y="2148840"/>
            <a:ext cx="0" cy="246888"/>
          </a:xfrm>
          <a:prstGeom prst="line">
            <a:avLst/>
          </a:prstGeom>
          <a:ln w="15240">
            <a:solidFill>
              <a:srgbClr val="FF53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Oval 21"/>
          <p:cNvSpPr/>
          <p:nvPr/>
        </p:nvSpPr>
        <p:spPr>
          <a:xfrm>
            <a:off x="7973568" y="2743200"/>
            <a:ext cx="384048" cy="384048"/>
          </a:xfrm>
          <a:prstGeom prst="ellipse">
            <a:avLst/>
          </a:prstGeom>
          <a:solidFill>
            <a:srgbClr val="F7C8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973568" y="2752344"/>
            <a:ext cx="384048" cy="36576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070B13"/>
                </a:solidFill>
                <a:latin typeface="Aptos Mono"/>
              </a:rPr>
              <a:t>02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549640" y="2734056"/>
            <a:ext cx="2615184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30" b="1" i="0" spc="28">
                <a:solidFill>
                  <a:srgbClr val="F4F7FB"/>
                </a:solidFill>
                <a:latin typeface="Aptos Mono"/>
              </a:rPr>
              <a:t>MODEL CONTEXT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549640" y="2999232"/>
            <a:ext cx="2670048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A8B4C6"/>
                </a:solidFill>
                <a:latin typeface="Aptos"/>
              </a:rPr>
              <a:t>Hidden instructions + sensitive state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8165592" y="3191256"/>
            <a:ext cx="0" cy="246888"/>
          </a:xfrm>
          <a:prstGeom prst="line">
            <a:avLst/>
          </a:prstGeom>
          <a:ln w="15240">
            <a:solidFill>
              <a:srgbClr val="F7C86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Oval 26"/>
          <p:cNvSpPr/>
          <p:nvPr/>
        </p:nvSpPr>
        <p:spPr>
          <a:xfrm>
            <a:off x="7973568" y="3785615"/>
            <a:ext cx="384048" cy="384048"/>
          </a:xfrm>
          <a:prstGeom prst="ellipse">
            <a:avLst/>
          </a:prstGeom>
          <a:solidFill>
            <a:srgbClr val="FF53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973568" y="3794759"/>
            <a:ext cx="384048" cy="36576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070B13"/>
                </a:solidFill>
                <a:latin typeface="Aptos Mono"/>
              </a:rPr>
              <a:t>03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549640" y="3776472"/>
            <a:ext cx="2615184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30" b="1" i="0" spc="28">
                <a:solidFill>
                  <a:srgbClr val="F4F7FB"/>
                </a:solidFill>
                <a:latin typeface="Aptos Mono"/>
              </a:rPr>
              <a:t>UNSAFE BEHAVIOR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549640" y="4041648"/>
            <a:ext cx="2670048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A8B4C6"/>
                </a:solidFill>
                <a:latin typeface="Aptos"/>
              </a:rPr>
              <a:t>Leak, overreach, or unreviewable action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955279" y="4617720"/>
            <a:ext cx="1572768" cy="237744"/>
          </a:xfrm>
          <a:prstGeom prst="roundRect">
            <a:avLst/>
          </a:prstGeom>
          <a:solidFill>
            <a:srgbClr val="2A121B"/>
          </a:solidFill>
          <a:ln w="10160">
            <a:solidFill>
              <a:srgbClr val="FF53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955279" y="4626864"/>
            <a:ext cx="1572768" cy="201168"/>
          </a:xfrm>
          <a:prstGeom prst="rect">
            <a:avLst/>
          </a:prstGeom>
          <a:noFill/>
        </p:spPr>
        <p:txBody>
          <a:bodyPr wrap="square" lIns="9144" rIns="9144" tIns="9144" bIns="9144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F4F7FB"/>
                </a:solidFill>
                <a:latin typeface="Aptos Mono"/>
              </a:rPr>
              <a:t>NO CONTROL PLANE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674352" y="4617720"/>
            <a:ext cx="1508760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69" b="1" i="0">
                <a:solidFill>
                  <a:srgbClr val="F4F7FB"/>
                </a:solidFill>
                <a:latin typeface="Aptos"/>
              </a:rPr>
              <a:t>Teams get a screenshot — not a defensible trail.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76656" y="3566160"/>
            <a:ext cx="109728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30" b="1" i="0" spc="100">
                <a:solidFill>
                  <a:srgbClr val="66F4D0"/>
                </a:solidFill>
                <a:latin typeface="Aptos Mono"/>
              </a:rPr>
              <a:t>THE GAP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58368" y="3913632"/>
            <a:ext cx="2057400" cy="1444752"/>
          </a:xfrm>
          <a:prstGeom prst="roundRect">
            <a:avLst/>
          </a:prstGeom>
          <a:solidFill>
            <a:srgbClr val="111B2B"/>
          </a:solidFill>
          <a:ln w="10160">
            <a:solidFill>
              <a:srgbClr val="1E2D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658368" y="3913632"/>
            <a:ext cx="64008" cy="1444752"/>
          </a:xfrm>
          <a:prstGeom prst="rect">
            <a:avLst/>
          </a:prstGeom>
          <a:solidFill>
            <a:srgbClr val="66F4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59536" y="4078224"/>
            <a:ext cx="402336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66F4D0"/>
                </a:solidFill>
                <a:latin typeface="Aptos Mono"/>
              </a:rPr>
              <a:t>01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59536" y="4443984"/>
            <a:ext cx="1673352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 spc="30">
                <a:solidFill>
                  <a:srgbClr val="F4F7FB"/>
                </a:solidFill>
                <a:latin typeface="Aptos Mono"/>
              </a:rPr>
              <a:t>HARD TO REPRODUCE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59536" y="4745736"/>
            <a:ext cx="1673352" cy="493776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19" b="0" i="0">
                <a:solidFill>
                  <a:srgbClr val="A8B4C6"/>
                </a:solidFill>
                <a:latin typeface="Aptos"/>
              </a:rPr>
              <a:t>The same prompt can produce a different security story tomorrow.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2852928" y="3913632"/>
            <a:ext cx="2057400" cy="1444752"/>
          </a:xfrm>
          <a:prstGeom prst="roundRect">
            <a:avLst/>
          </a:prstGeom>
          <a:solidFill>
            <a:srgbClr val="111B2B"/>
          </a:solidFill>
          <a:ln w="10160">
            <a:solidFill>
              <a:srgbClr val="1E2D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2852928" y="3913632"/>
            <a:ext cx="64008" cy="1444752"/>
          </a:xfrm>
          <a:prstGeom prst="rect">
            <a:avLst/>
          </a:prstGeom>
          <a:solidFill>
            <a:srgbClr val="5D9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054096" y="4078224"/>
            <a:ext cx="402336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5D9CFF"/>
                </a:solidFill>
                <a:latin typeface="Aptos Mono"/>
              </a:rPr>
              <a:t>02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054096" y="4443984"/>
            <a:ext cx="1673352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 spc="30">
                <a:solidFill>
                  <a:srgbClr val="F4F7FB"/>
                </a:solidFill>
                <a:latin typeface="Aptos Mono"/>
              </a:rPr>
              <a:t>HARD TO SCOPE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054096" y="4745736"/>
            <a:ext cx="1673352" cy="493776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19" b="0" i="0">
                <a:solidFill>
                  <a:srgbClr val="A8B4C6"/>
                </a:solidFill>
                <a:latin typeface="Aptos"/>
              </a:rPr>
              <a:t>Red, blue, model, tenant, and session boundaries blur together.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5047488" y="3913632"/>
            <a:ext cx="2057400" cy="1444752"/>
          </a:xfrm>
          <a:prstGeom prst="roundRect">
            <a:avLst/>
          </a:prstGeom>
          <a:solidFill>
            <a:srgbClr val="111B2B"/>
          </a:solidFill>
          <a:ln w="10160">
            <a:solidFill>
              <a:srgbClr val="1E2D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5047488" y="3913632"/>
            <a:ext cx="64008" cy="1444752"/>
          </a:xfrm>
          <a:prstGeom prst="rect">
            <a:avLst/>
          </a:prstGeom>
          <a:solidFill>
            <a:srgbClr val="FF53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248655" y="4078224"/>
            <a:ext cx="402336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536E"/>
                </a:solidFill>
                <a:latin typeface="Aptos Mono"/>
              </a:rPr>
              <a:t>03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248655" y="4443984"/>
            <a:ext cx="1673352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 spc="30">
                <a:solidFill>
                  <a:srgbClr val="F4F7FB"/>
                </a:solidFill>
                <a:latin typeface="Aptos Mono"/>
              </a:rPr>
              <a:t>HARD TO PROVE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248655" y="4745736"/>
            <a:ext cx="1673352" cy="493776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19" b="0" i="0">
                <a:solidFill>
                  <a:srgbClr val="A8B4C6"/>
                </a:solidFill>
                <a:latin typeface="Aptos"/>
              </a:rPr>
              <a:t>A response without provenance is not evidence a reviewer can trust.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85800" y="5779008"/>
            <a:ext cx="630936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20" b="1" i="0" spc="45">
                <a:solidFill>
                  <a:srgbClr val="70819A"/>
                </a:solidFill>
                <a:latin typeface="Aptos Mono"/>
              </a:rPr>
              <a:t>THREAT FRAMING: OWASP GENAI  •  MITRE ATLAS  •  RESPONSIBLE AI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B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quie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B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" name="Connector 4"/>
          <p:cNvCxnSpPr/>
          <p:nvPr/>
        </p:nvCxnSpPr>
        <p:spPr>
          <a:xfrm>
            <a:off x="658368" y="329184"/>
            <a:ext cx="10881360" cy="0"/>
          </a:xfrm>
          <a:prstGeom prst="line">
            <a:avLst/>
          </a:prstGeom>
          <a:ln w="10160">
            <a:solidFill>
              <a:srgbClr val="1E2D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58368" y="109728"/>
            <a:ext cx="384048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20" b="1" i="0" spc="100">
                <a:solidFill>
                  <a:srgbClr val="70819A"/>
                </a:solidFill>
                <a:latin typeface="Aptos Mono"/>
              </a:rPr>
              <a:t>BAYORA / THE SOLUTION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45952" y="91440"/>
            <a:ext cx="45720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66F4D0"/>
                </a:solidFill>
                <a:latin typeface="Aptos Mono"/>
              </a:rPr>
              <a:t>03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658368" y="6510528"/>
            <a:ext cx="10881360" cy="0"/>
          </a:xfrm>
          <a:prstGeom prst="line">
            <a:avLst/>
          </a:prstGeom>
          <a:ln w="10160">
            <a:solidFill>
              <a:srgbClr val="1E2D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658368" y="6601968"/>
            <a:ext cx="4206240" cy="1371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680" b="1" i="0" spc="85">
                <a:solidFill>
                  <a:srgbClr val="70819A"/>
                </a:solidFill>
                <a:latin typeface="Aptos Mono"/>
              </a:rPr>
              <a:t>ATTACK SURFACE → POLICY → EVIDENCE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58200" y="6601968"/>
            <a:ext cx="3081528" cy="1371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680" b="1" i="0" spc="70">
                <a:solidFill>
                  <a:srgbClr val="70819A"/>
                </a:solidFill>
                <a:latin typeface="Aptos Mono"/>
              </a:rPr>
              <a:t>HACK IN HILLS / PITCH DECK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621792"/>
            <a:ext cx="841248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1" i="0" spc="120">
                <a:solidFill>
                  <a:srgbClr val="66F4D0"/>
                </a:solidFill>
                <a:latin typeface="Aptos Mono"/>
              </a:rPr>
              <a:t>THE SOLUTION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896112"/>
            <a:ext cx="8412480" cy="6583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 spc="-10">
                <a:solidFill>
                  <a:srgbClr val="F4F7FB"/>
                </a:solidFill>
                <a:latin typeface="Aptos Display"/>
              </a:rPr>
              <a:t>Bayora makes every test traceable.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" y="1609344"/>
            <a:ext cx="8412480" cy="4754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A8B4C6"/>
                </a:solidFill>
                <a:latin typeface="Aptos"/>
              </a:rPr>
              <a:t>One controlled loop turns adversarial input into a scoped decision, an isolated run, and evidence a reviewer can replay.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1901952"/>
            <a:ext cx="10972800" cy="749808"/>
          </a:xfrm>
          <a:prstGeom prst="roundRect">
            <a:avLst/>
          </a:prstGeom>
          <a:solidFill>
            <a:srgbClr val="111B2B"/>
          </a:solidFill>
          <a:ln w="10160">
            <a:solidFill>
              <a:srgbClr val="1E2D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6112" y="2039112"/>
            <a:ext cx="82296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19" b="1" i="0" spc="70">
                <a:solidFill>
                  <a:srgbClr val="70819A"/>
                </a:solidFill>
                <a:latin typeface="Aptos Mono"/>
              </a:rPr>
              <a:t>BEFORE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755648" y="2002536"/>
            <a:ext cx="242316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A8B4C6"/>
                </a:solidFill>
                <a:latin typeface="Aptos Display"/>
              </a:rPr>
              <a:t>PROMPT  →  RESPONSE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4407408" y="2276856"/>
            <a:ext cx="210312" cy="0"/>
          </a:xfrm>
          <a:prstGeom prst="line">
            <a:avLst/>
          </a:prstGeom>
          <a:ln w="25400">
            <a:solidFill>
              <a:srgbClr val="1E2D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4892040" y="2039112"/>
            <a:ext cx="82296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19" b="1" i="0" spc="70">
                <a:solidFill>
                  <a:srgbClr val="66F4D0"/>
                </a:solidFill>
                <a:latin typeface="Aptos Mono"/>
              </a:rPr>
              <a:t>AFTER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733288" y="2002536"/>
            <a:ext cx="544068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4F7FB"/>
                </a:solidFill>
                <a:latin typeface="Aptos Display"/>
              </a:rPr>
              <a:t>PROBE  →  POLICY  →  WORKER  →  EVIDENCE  →  REVIEW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3081528"/>
            <a:ext cx="182880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1" i="0" spc="90">
                <a:solidFill>
                  <a:srgbClr val="66F4D0"/>
                </a:solidFill>
                <a:latin typeface="Aptos Mono"/>
              </a:rPr>
              <a:t>THE BAYORA LOOP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58368" y="3456432"/>
            <a:ext cx="1975104" cy="1591056"/>
          </a:xfrm>
          <a:prstGeom prst="roundRect">
            <a:avLst/>
          </a:prstGeom>
          <a:solidFill>
            <a:srgbClr val="111B2B"/>
          </a:solidFill>
          <a:ln w="10160">
            <a:solidFill>
              <a:srgbClr val="1E2D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58368" y="3456432"/>
            <a:ext cx="64008" cy="1591056"/>
          </a:xfrm>
          <a:prstGeom prst="rect">
            <a:avLst/>
          </a:prstGeom>
          <a:solidFill>
            <a:srgbClr val="FF53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59536" y="3621024"/>
            <a:ext cx="402336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536E"/>
                </a:solidFill>
                <a:latin typeface="Aptos Mono"/>
              </a:rPr>
              <a:t>01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59536" y="3986783"/>
            <a:ext cx="1591056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 spc="30">
                <a:solidFill>
                  <a:srgbClr val="F4F7FB"/>
                </a:solidFill>
                <a:latin typeface="Aptos Mono"/>
              </a:rPr>
              <a:t>DEFINE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59536" y="4288536"/>
            <a:ext cx="1591056" cy="6400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19" b="0" i="0">
                <a:solidFill>
                  <a:srgbClr val="A8B4C6"/>
                </a:solidFill>
                <a:latin typeface="Aptos"/>
              </a:rPr>
              <a:t>Create an adversarial probe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633472" y="4023360"/>
            <a:ext cx="310896" cy="3200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FF536E"/>
                </a:solidFill>
                <a:latin typeface="Aptos"/>
              </a:rPr>
              <a:t>→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2871215" y="3456432"/>
            <a:ext cx="1975104" cy="1591056"/>
          </a:xfrm>
          <a:prstGeom prst="roundRect">
            <a:avLst/>
          </a:prstGeom>
          <a:solidFill>
            <a:srgbClr val="111B2B"/>
          </a:solidFill>
          <a:ln w="10160">
            <a:solidFill>
              <a:srgbClr val="1E2D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2871215" y="3456432"/>
            <a:ext cx="64008" cy="1591056"/>
          </a:xfrm>
          <a:prstGeom prst="rect">
            <a:avLst/>
          </a:prstGeom>
          <a:solidFill>
            <a:srgbClr val="5D9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072384" y="3621024"/>
            <a:ext cx="402336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5D9CFF"/>
                </a:solidFill>
                <a:latin typeface="Aptos Mono"/>
              </a:rPr>
              <a:t>02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072384" y="3986783"/>
            <a:ext cx="1591056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 spc="30">
                <a:solidFill>
                  <a:srgbClr val="F4F7FB"/>
                </a:solidFill>
                <a:latin typeface="Aptos Mono"/>
              </a:rPr>
              <a:t>SCOPE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072384" y="4288536"/>
            <a:ext cx="1591056" cy="6400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19" b="0" i="0">
                <a:solidFill>
                  <a:srgbClr val="A8B4C6"/>
                </a:solidFill>
                <a:latin typeface="Aptos"/>
              </a:rPr>
              <a:t>Resolve tenant + session policy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846320" y="4023360"/>
            <a:ext cx="310896" cy="3200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5D9CFF"/>
                </a:solidFill>
                <a:latin typeface="Aptos"/>
              </a:rPr>
              <a:t>→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084064" y="3456432"/>
            <a:ext cx="1975104" cy="1591056"/>
          </a:xfrm>
          <a:prstGeom prst="roundRect">
            <a:avLst/>
          </a:prstGeom>
          <a:solidFill>
            <a:srgbClr val="111B2B"/>
          </a:solidFill>
          <a:ln w="10160">
            <a:solidFill>
              <a:srgbClr val="1E2D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5084064" y="3456432"/>
            <a:ext cx="64008" cy="1591056"/>
          </a:xfrm>
          <a:prstGeom prst="rect">
            <a:avLst/>
          </a:prstGeom>
          <a:solidFill>
            <a:srgbClr val="66F4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285231" y="3621024"/>
            <a:ext cx="402336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66F4D0"/>
                </a:solidFill>
                <a:latin typeface="Aptos Mono"/>
              </a:rPr>
              <a:t>03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285231" y="3986783"/>
            <a:ext cx="1591056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 spc="30">
                <a:solidFill>
                  <a:srgbClr val="F4F7FB"/>
                </a:solidFill>
                <a:latin typeface="Aptos Mono"/>
              </a:rPr>
              <a:t>ISOLATE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285231" y="4288536"/>
            <a:ext cx="1591056" cy="6400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19" b="0" i="0">
                <a:solidFill>
                  <a:srgbClr val="A8B4C6"/>
                </a:solidFill>
                <a:latin typeface="Aptos"/>
              </a:rPr>
              <a:t>Run a bounded model worker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059168" y="4023360"/>
            <a:ext cx="310896" cy="3200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66F4D0"/>
                </a:solidFill>
                <a:latin typeface="Aptos"/>
              </a:rPr>
              <a:t>→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7296912" y="3456432"/>
            <a:ext cx="1975104" cy="1591056"/>
          </a:xfrm>
          <a:prstGeom prst="roundRect">
            <a:avLst/>
          </a:prstGeom>
          <a:solidFill>
            <a:srgbClr val="111B2B"/>
          </a:solidFill>
          <a:ln w="10160">
            <a:solidFill>
              <a:srgbClr val="1E2D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7296912" y="3456432"/>
            <a:ext cx="64008" cy="1591056"/>
          </a:xfrm>
          <a:prstGeom prst="rect">
            <a:avLst/>
          </a:prstGeom>
          <a:solidFill>
            <a:srgbClr val="9A8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498079" y="3621024"/>
            <a:ext cx="402336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9A8CFF"/>
                </a:solidFill>
                <a:latin typeface="Aptos Mono"/>
              </a:rPr>
              <a:t>04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498079" y="3986783"/>
            <a:ext cx="1591056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 spc="30">
                <a:solidFill>
                  <a:srgbClr val="F4F7FB"/>
                </a:solidFill>
                <a:latin typeface="Aptos Mono"/>
              </a:rPr>
              <a:t>COLLECT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498079" y="4288536"/>
            <a:ext cx="1591056" cy="6400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19" b="0" i="0">
                <a:solidFill>
                  <a:srgbClr val="A8B4C6"/>
                </a:solidFill>
                <a:latin typeface="Aptos"/>
              </a:rPr>
              <a:t>Normalize output + provenance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272016" y="4023360"/>
            <a:ext cx="310896" cy="3200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9A8CFF"/>
                </a:solidFill>
                <a:latin typeface="Aptos"/>
              </a:rPr>
              <a:t>→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9509759" y="3456432"/>
            <a:ext cx="1975104" cy="1591056"/>
          </a:xfrm>
          <a:prstGeom prst="roundRect">
            <a:avLst/>
          </a:prstGeom>
          <a:solidFill>
            <a:srgbClr val="111B2B"/>
          </a:solidFill>
          <a:ln w="10160">
            <a:solidFill>
              <a:srgbClr val="1E2D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9509759" y="3456432"/>
            <a:ext cx="64008" cy="1591056"/>
          </a:xfrm>
          <a:prstGeom prst="rect">
            <a:avLst/>
          </a:prstGeom>
          <a:solidFill>
            <a:srgbClr val="F7C8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9710928" y="3621024"/>
            <a:ext cx="402336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7C86A"/>
                </a:solidFill>
                <a:latin typeface="Aptos Mono"/>
              </a:rPr>
              <a:t>05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710928" y="3986783"/>
            <a:ext cx="1591056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 spc="30">
                <a:solidFill>
                  <a:srgbClr val="F4F7FB"/>
                </a:solidFill>
                <a:latin typeface="Aptos Mono"/>
              </a:rPr>
              <a:t>VERIFY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710928" y="4288536"/>
            <a:ext cx="1591056" cy="6400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19" b="0" i="0">
                <a:solidFill>
                  <a:srgbClr val="A8B4C6"/>
                </a:solidFill>
                <a:latin typeface="Aptos"/>
              </a:rPr>
              <a:t>Review the signed audit trail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658368" y="5468112"/>
            <a:ext cx="10972800" cy="640080"/>
          </a:xfrm>
          <a:prstGeom prst="roundRect">
            <a:avLst/>
          </a:prstGeom>
          <a:solidFill>
            <a:srgbClr val="0D1C2C"/>
          </a:solidFill>
          <a:ln w="10160">
            <a:solidFill>
              <a:srgbClr val="66F4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932688" y="5669280"/>
            <a:ext cx="256032" cy="256032"/>
          </a:xfrm>
          <a:prstGeom prst="ellipse">
            <a:avLst/>
          </a:prstGeom>
          <a:solidFill>
            <a:srgbClr val="66F4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932688" y="5650992"/>
            <a:ext cx="256032" cy="2286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070B13"/>
                </a:solidFill>
                <a:latin typeface="Aptos"/>
              </a:rPr>
              <a:t>✓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353312" y="5614416"/>
            <a:ext cx="201168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30" b="1" i="0" spc="40">
                <a:solidFill>
                  <a:srgbClr val="66F4D0"/>
                </a:solidFill>
                <a:latin typeface="Aptos Mono"/>
              </a:rPr>
              <a:t>BOUNDARY TEST PASSED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3749039" y="5632704"/>
            <a:ext cx="150876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19" b="0" i="0">
                <a:solidFill>
                  <a:srgbClr val="F4F7FB"/>
                </a:solidFill>
                <a:latin typeface="Aptos Mono"/>
              </a:rPr>
              <a:t>session: 7f3c…b91a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5541264" y="5632704"/>
            <a:ext cx="141732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19" b="0" i="0">
                <a:solidFill>
                  <a:srgbClr val="F4F7FB"/>
                </a:solidFill>
                <a:latin typeface="Aptos Mono"/>
              </a:rPr>
              <a:t>decision: ALLOW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498079" y="5632704"/>
            <a:ext cx="173736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19" b="0" i="0">
                <a:solidFill>
                  <a:srgbClr val="F4F7FB"/>
                </a:solidFill>
                <a:latin typeface="Aptos Mono"/>
              </a:rPr>
              <a:t>audit: HMAC-LINKED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0104120" y="5632704"/>
            <a:ext cx="114300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19" b="1" i="0">
                <a:solidFill>
                  <a:srgbClr val="66F4D0"/>
                </a:solidFill>
                <a:latin typeface="Aptos Mono"/>
              </a:rPr>
              <a:t>reviewable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B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arena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B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" name="Connector 4"/>
          <p:cNvCxnSpPr/>
          <p:nvPr/>
        </p:nvCxnSpPr>
        <p:spPr>
          <a:xfrm>
            <a:off x="658368" y="329184"/>
            <a:ext cx="10881360" cy="0"/>
          </a:xfrm>
          <a:prstGeom prst="line">
            <a:avLst/>
          </a:prstGeom>
          <a:ln w="10160">
            <a:solidFill>
              <a:srgbClr val="1E2D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58368" y="109728"/>
            <a:ext cx="384048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20" b="1" i="0" spc="100">
                <a:solidFill>
                  <a:srgbClr val="70819A"/>
                </a:solidFill>
                <a:latin typeface="Aptos Mono"/>
              </a:rPr>
              <a:t>BAYORA / ARCHITECTURE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45952" y="91440"/>
            <a:ext cx="45720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66F4D0"/>
                </a:solidFill>
                <a:latin typeface="Aptos Mono"/>
              </a:rPr>
              <a:t>04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658368" y="6510528"/>
            <a:ext cx="10881360" cy="0"/>
          </a:xfrm>
          <a:prstGeom prst="line">
            <a:avLst/>
          </a:prstGeom>
          <a:ln w="10160">
            <a:solidFill>
              <a:srgbClr val="1E2D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658368" y="6601968"/>
            <a:ext cx="4206240" cy="1371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680" b="1" i="0" spc="85">
                <a:solidFill>
                  <a:srgbClr val="70819A"/>
                </a:solidFill>
                <a:latin typeface="Aptos Mono"/>
              </a:rPr>
              <a:t>ATTACK SURFACE → POLICY → EVIDENCE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58200" y="6601968"/>
            <a:ext cx="3081528" cy="1371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680" b="1" i="0" spc="70">
                <a:solidFill>
                  <a:srgbClr val="70819A"/>
                </a:solidFill>
                <a:latin typeface="Aptos Mono"/>
              </a:rPr>
              <a:t>HACK IN HILLS / PITCH DECK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585216"/>
            <a:ext cx="777240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1" i="0" spc="120">
                <a:solidFill>
                  <a:srgbClr val="66F4D0"/>
                </a:solidFill>
                <a:latin typeface="Aptos Mono"/>
              </a:rPr>
              <a:t>THE ARCHITECTURE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859536"/>
            <a:ext cx="7772400" cy="6583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 spc="-10">
                <a:solidFill>
                  <a:srgbClr val="F4F7FB"/>
                </a:solidFill>
                <a:latin typeface="Aptos Display"/>
              </a:rPr>
              <a:t>Four trust zones. One controlled path.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" y="1572768"/>
            <a:ext cx="7772400" cy="4754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A8B4C6"/>
                </a:solidFill>
                <a:latin typeface="Aptos"/>
              </a:rPr>
              <a:t>The API is the only component that receives client requests. Everything else is scoped, bounded, and observable.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1938528"/>
            <a:ext cx="2331720" cy="1444752"/>
          </a:xfrm>
          <a:prstGeom prst="roundRect">
            <a:avLst/>
          </a:prstGeom>
          <a:solidFill>
            <a:srgbClr val="111B2B"/>
          </a:solidFill>
          <a:ln w="10160">
            <a:solidFill>
              <a:srgbClr val="66F4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1247" y="2121408"/>
            <a:ext cx="384048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66F4D0"/>
                </a:solidFill>
                <a:latin typeface="Aptos Mono"/>
              </a:rPr>
              <a:t>01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1247" y="2487168"/>
            <a:ext cx="196596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1" i="0" spc="18">
                <a:solidFill>
                  <a:srgbClr val="F4F7FB"/>
                </a:solidFill>
                <a:latin typeface="Aptos Mono"/>
              </a:rPr>
              <a:t>CONTROL PLANE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1247" y="2843784"/>
            <a:ext cx="1883664" cy="4114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30" b="0" i="0">
                <a:solidFill>
                  <a:srgbClr val="A8B4C6"/>
                </a:solidFill>
                <a:latin typeface="Aptos"/>
              </a:rPr>
              <a:t>Browser
API • Auth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401568" y="1938528"/>
            <a:ext cx="2331720" cy="1444752"/>
          </a:xfrm>
          <a:prstGeom prst="roundRect">
            <a:avLst/>
          </a:prstGeom>
          <a:solidFill>
            <a:srgbClr val="111B2B"/>
          </a:solidFill>
          <a:ln w="10160">
            <a:solidFill>
              <a:srgbClr val="5D9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584448" y="2121408"/>
            <a:ext cx="384048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5D9CFF"/>
                </a:solidFill>
                <a:latin typeface="Aptos Mono"/>
              </a:rPr>
              <a:t>02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84448" y="2487168"/>
            <a:ext cx="196596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1" i="0" spc="18">
                <a:solidFill>
                  <a:srgbClr val="F4F7FB"/>
                </a:solidFill>
                <a:latin typeface="Aptos Mono"/>
              </a:rPr>
              <a:t>POLICY + PROVENANCE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584448" y="2843784"/>
            <a:ext cx="1883664" cy="4114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30" b="0" i="0">
                <a:solidFill>
                  <a:srgbClr val="A8B4C6"/>
                </a:solidFill>
                <a:latin typeface="Aptos"/>
              </a:rPr>
              <a:t>Tenant + session
Default deny • HMAC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44768" y="1938528"/>
            <a:ext cx="2331720" cy="1444752"/>
          </a:xfrm>
          <a:prstGeom prst="roundRect">
            <a:avLst/>
          </a:prstGeom>
          <a:solidFill>
            <a:srgbClr val="111B2B"/>
          </a:solidFill>
          <a:ln w="10160">
            <a:solidFill>
              <a:srgbClr val="FF53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27648" y="2121408"/>
            <a:ext cx="384048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FF536E"/>
                </a:solidFill>
                <a:latin typeface="Aptos Mono"/>
              </a:rPr>
              <a:t>03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27648" y="2487168"/>
            <a:ext cx="196596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1" i="0" spc="18">
                <a:solidFill>
                  <a:srgbClr val="F4F7FB"/>
                </a:solidFill>
                <a:latin typeface="Aptos Mono"/>
              </a:rPr>
              <a:t>EVALUATION PLANE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27648" y="2843784"/>
            <a:ext cx="1883664" cy="4114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30" b="0" i="0">
                <a:solidFill>
                  <a:srgbClr val="A8B4C6"/>
                </a:solidFill>
                <a:latin typeface="Aptos"/>
              </a:rPr>
              <a:t>Isolated worker
Provider adapter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887968" y="1938528"/>
            <a:ext cx="2331720" cy="1444752"/>
          </a:xfrm>
          <a:prstGeom prst="roundRect">
            <a:avLst/>
          </a:prstGeom>
          <a:solidFill>
            <a:srgbClr val="111B2B"/>
          </a:solidFill>
          <a:ln w="10160">
            <a:solidFill>
              <a:srgbClr val="F7C8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070848" y="2121408"/>
            <a:ext cx="384048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F7C86A"/>
                </a:solidFill>
                <a:latin typeface="Aptos Mono"/>
              </a:rPr>
              <a:t>04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070848" y="2487168"/>
            <a:ext cx="196596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1" i="0" spc="18">
                <a:solidFill>
                  <a:srgbClr val="F4F7FB"/>
                </a:solidFill>
                <a:latin typeface="Aptos Mono"/>
              </a:rPr>
              <a:t>PROTECTED RESOURCES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070848" y="2843784"/>
            <a:ext cx="1883664" cy="4114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30" b="0" i="0">
                <a:solidFill>
                  <a:srgbClr val="A8B4C6"/>
                </a:solidFill>
                <a:latin typeface="Aptos"/>
              </a:rPr>
              <a:t>Other tenants
Host • private data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944368" y="2450592"/>
            <a:ext cx="310896" cy="3200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66F4D0"/>
                </a:solidFill>
                <a:latin typeface="Aptos"/>
              </a:rPr>
              <a:t>→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687568" y="2450592"/>
            <a:ext cx="310896" cy="3200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5D9CFF"/>
                </a:solidFill>
                <a:latin typeface="Aptos"/>
              </a:rPr>
              <a:t>→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430768" y="2450592"/>
            <a:ext cx="310896" cy="3200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FF536E"/>
                </a:solidFill>
                <a:latin typeface="Aptos"/>
              </a:rPr>
              <a:t>→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85800" y="3858768"/>
            <a:ext cx="141732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1" i="0" spc="90">
                <a:solidFill>
                  <a:srgbClr val="66F4D0"/>
                </a:solidFill>
                <a:latin typeface="Aptos Mono"/>
              </a:rPr>
              <a:t>REQUEST PATH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822960" y="4407408"/>
            <a:ext cx="10058400" cy="0"/>
          </a:xfrm>
          <a:prstGeom prst="line">
            <a:avLst/>
          </a:prstGeom>
          <a:ln w="17780">
            <a:solidFill>
              <a:srgbClr val="1E2D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Oval 34"/>
          <p:cNvSpPr/>
          <p:nvPr/>
        </p:nvSpPr>
        <p:spPr>
          <a:xfrm>
            <a:off x="914400" y="4233672"/>
            <a:ext cx="347472" cy="347472"/>
          </a:xfrm>
          <a:prstGeom prst="ellipse">
            <a:avLst/>
          </a:prstGeom>
          <a:solidFill>
            <a:srgbClr val="66F4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14400" y="4206240"/>
            <a:ext cx="347472" cy="2743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070B13"/>
                </a:solidFill>
                <a:latin typeface="Aptos"/>
              </a:rPr>
              <a:t>•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94360" y="4681728"/>
            <a:ext cx="100584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1" i="0" spc="35">
                <a:solidFill>
                  <a:srgbClr val="F4F7FB"/>
                </a:solidFill>
                <a:latin typeface="Aptos Mono"/>
              </a:rPr>
              <a:t>REQUEST</a:t>
            </a:r>
          </a:p>
        </p:txBody>
      </p:sp>
      <p:sp>
        <p:nvSpPr>
          <p:cNvPr id="38" name="Oval 37"/>
          <p:cNvSpPr/>
          <p:nvPr/>
        </p:nvSpPr>
        <p:spPr>
          <a:xfrm>
            <a:off x="3474720" y="4233672"/>
            <a:ext cx="347472" cy="347472"/>
          </a:xfrm>
          <a:prstGeom prst="ellipse">
            <a:avLst/>
          </a:prstGeom>
          <a:solidFill>
            <a:srgbClr val="5D9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474720" y="4206240"/>
            <a:ext cx="347472" cy="2743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070B13"/>
                </a:solidFill>
                <a:latin typeface="Aptos"/>
              </a:rPr>
              <a:t>•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154679" y="4681728"/>
            <a:ext cx="100584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1" i="0" spc="35">
                <a:solidFill>
                  <a:srgbClr val="F4F7FB"/>
                </a:solidFill>
                <a:latin typeface="Aptos Mono"/>
              </a:rPr>
              <a:t>POLICY</a:t>
            </a:r>
          </a:p>
        </p:txBody>
      </p:sp>
      <p:sp>
        <p:nvSpPr>
          <p:cNvPr id="41" name="Oval 40"/>
          <p:cNvSpPr/>
          <p:nvPr/>
        </p:nvSpPr>
        <p:spPr>
          <a:xfrm>
            <a:off x="6035040" y="4233672"/>
            <a:ext cx="347472" cy="347472"/>
          </a:xfrm>
          <a:prstGeom prst="ellipse">
            <a:avLst/>
          </a:prstGeom>
          <a:solidFill>
            <a:srgbClr val="FF53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035040" y="4206240"/>
            <a:ext cx="347472" cy="2743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070B13"/>
                </a:solidFill>
                <a:latin typeface="Aptos"/>
              </a:rPr>
              <a:t>•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715000" y="4681728"/>
            <a:ext cx="100584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1" i="0" spc="35">
                <a:solidFill>
                  <a:srgbClr val="F4F7FB"/>
                </a:solidFill>
                <a:latin typeface="Aptos Mono"/>
              </a:rPr>
              <a:t>WORKER</a:t>
            </a:r>
          </a:p>
        </p:txBody>
      </p:sp>
      <p:sp>
        <p:nvSpPr>
          <p:cNvPr id="44" name="Oval 43"/>
          <p:cNvSpPr/>
          <p:nvPr/>
        </p:nvSpPr>
        <p:spPr>
          <a:xfrm>
            <a:off x="8595360" y="4233672"/>
            <a:ext cx="347472" cy="347472"/>
          </a:xfrm>
          <a:prstGeom prst="ellipse">
            <a:avLst/>
          </a:prstGeom>
          <a:solidFill>
            <a:srgbClr val="66F4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595360" y="4206240"/>
            <a:ext cx="347472" cy="2743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070B13"/>
                </a:solidFill>
                <a:latin typeface="Aptos"/>
              </a:rPr>
              <a:t>•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275320" y="4681728"/>
            <a:ext cx="100584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1" i="0" spc="35">
                <a:solidFill>
                  <a:srgbClr val="F4F7FB"/>
                </a:solidFill>
                <a:latin typeface="Aptos Mono"/>
              </a:rPr>
              <a:t>RESULT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658368" y="5230368"/>
            <a:ext cx="10972800" cy="786384"/>
          </a:xfrm>
          <a:prstGeom prst="roundRect">
            <a:avLst/>
          </a:prstGeom>
          <a:solidFill>
            <a:srgbClr val="0D1422"/>
          </a:solidFill>
          <a:ln w="10160">
            <a:solidFill>
              <a:srgbClr val="1E2D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914400" y="5413248"/>
            <a:ext cx="59436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1" i="0" spc="40">
                <a:solidFill>
                  <a:srgbClr val="66F4D0"/>
                </a:solidFill>
                <a:latin typeface="Aptos Mono"/>
              </a:rPr>
              <a:t>ALLOW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700784" y="5394960"/>
            <a:ext cx="146304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4F7FB"/>
                </a:solidFill>
                <a:latin typeface="Aptos Mono"/>
              </a:rPr>
              <a:t>RED  →  LLM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3977639" y="5413248"/>
            <a:ext cx="59436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1" i="0" spc="40">
                <a:solidFill>
                  <a:srgbClr val="FF536E"/>
                </a:solidFill>
                <a:latin typeface="Aptos Mono"/>
              </a:rPr>
              <a:t>BLOCK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754880" y="5394960"/>
            <a:ext cx="260604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4F7FB"/>
                </a:solidFill>
                <a:latin typeface="Aptos Mono"/>
              </a:rPr>
              <a:t>RED  →  BLUE PRIVATE DATA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726679" y="5413248"/>
            <a:ext cx="59436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1" i="0" spc="40">
                <a:solidFill>
                  <a:srgbClr val="FF536E"/>
                </a:solidFill>
                <a:latin typeface="Aptos Mono"/>
              </a:rPr>
              <a:t>BLOCK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503920" y="5394960"/>
            <a:ext cx="150876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4F7FB"/>
                </a:solidFill>
                <a:latin typeface="Aptos Mono"/>
              </a:rPr>
              <a:t>RED  →  HOST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0168128" y="5413248"/>
            <a:ext cx="109728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60" b="1" i="0">
                <a:solidFill>
                  <a:srgbClr val="F7C86A"/>
                </a:solidFill>
                <a:latin typeface="Aptos Mono"/>
              </a:rPr>
              <a:t>default deny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B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quie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B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" name="Connector 4"/>
          <p:cNvCxnSpPr/>
          <p:nvPr/>
        </p:nvCxnSpPr>
        <p:spPr>
          <a:xfrm>
            <a:off x="658368" y="329184"/>
            <a:ext cx="10881360" cy="0"/>
          </a:xfrm>
          <a:prstGeom prst="line">
            <a:avLst/>
          </a:prstGeom>
          <a:ln w="10160">
            <a:solidFill>
              <a:srgbClr val="1E2D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58368" y="109728"/>
            <a:ext cx="384048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20" b="1" i="0" spc="100">
                <a:solidFill>
                  <a:srgbClr val="70819A"/>
                </a:solidFill>
                <a:latin typeface="Aptos Mono"/>
              </a:rPr>
              <a:t>BAYORA / PROOF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45952" y="91440"/>
            <a:ext cx="45720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66F4D0"/>
                </a:solidFill>
                <a:latin typeface="Aptos Mono"/>
              </a:rPr>
              <a:t>05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658368" y="6510528"/>
            <a:ext cx="10881360" cy="0"/>
          </a:xfrm>
          <a:prstGeom prst="line">
            <a:avLst/>
          </a:prstGeom>
          <a:ln w="10160">
            <a:solidFill>
              <a:srgbClr val="1E2D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658368" y="6601968"/>
            <a:ext cx="4206240" cy="1371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680" b="1" i="0" spc="85">
                <a:solidFill>
                  <a:srgbClr val="70819A"/>
                </a:solidFill>
                <a:latin typeface="Aptos Mono"/>
              </a:rPr>
              <a:t>ATTACK SURFACE → POLICY → EVIDENCE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58200" y="6601968"/>
            <a:ext cx="3081528" cy="1371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680" b="1" i="0" spc="70">
                <a:solidFill>
                  <a:srgbClr val="70819A"/>
                </a:solidFill>
                <a:latin typeface="Aptos Mono"/>
              </a:rPr>
              <a:t>HACK IN HILLS / PITCH DECK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585216"/>
            <a:ext cx="640080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1" i="0" spc="120">
                <a:solidFill>
                  <a:srgbClr val="66F4D0"/>
                </a:solidFill>
                <a:latin typeface="Aptos Mono"/>
              </a:rPr>
              <a:t>THE PROOF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859536"/>
            <a:ext cx="6400800" cy="6583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 spc="-10">
                <a:solidFill>
                  <a:srgbClr val="F4F7FB"/>
                </a:solidFill>
                <a:latin typeface="Aptos Display"/>
              </a:rPr>
              <a:t>We don’t just say secure.
We show the decision.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" y="1572768"/>
            <a:ext cx="6400800" cy="4754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A8B4C6"/>
                </a:solidFill>
                <a:latin typeface="Aptos"/>
              </a:rPr>
              <a:t>A reproducible validation run exercises policy enforcement, the isolated worker, and audit integrity in one view.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19872" y="841248"/>
            <a:ext cx="3511296" cy="1389888"/>
          </a:xfrm>
          <a:prstGeom prst="roundRect">
            <a:avLst/>
          </a:prstGeom>
          <a:solidFill>
            <a:srgbClr val="0E1E2A"/>
          </a:solidFill>
          <a:ln w="10160">
            <a:solidFill>
              <a:srgbClr val="66F4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94192" y="987552"/>
            <a:ext cx="1143000" cy="6858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4000" b="1" i="0">
                <a:solidFill>
                  <a:srgbClr val="66F4D0"/>
                </a:solidFill>
                <a:latin typeface="Aptos Display"/>
              </a:rPr>
              <a:t>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418320" y="1188720"/>
            <a:ext cx="82296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F4F7FB"/>
                </a:solidFill>
                <a:latin typeface="Aptos Display"/>
              </a:rPr>
              <a:t>/ 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104120" y="1060704"/>
            <a:ext cx="1188720" cy="530352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1" i="0" spc="35">
                <a:solidFill>
                  <a:srgbClr val="A8B4C6"/>
                </a:solidFill>
                <a:latin typeface="Aptos Mono"/>
              </a:rPr>
              <a:t>CONTROL CASES
PASS IN FIXTURE MODE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12480" y="1929384"/>
            <a:ext cx="2743200" cy="146304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70" b="1" i="0" spc="22">
                <a:solidFill>
                  <a:srgbClr val="70819A"/>
                </a:solidFill>
                <a:latin typeface="Aptos Mono"/>
              </a:rPr>
              <a:t>application policy + fixture worker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2487168"/>
            <a:ext cx="274320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1" i="0" spc="90">
                <a:solidFill>
                  <a:srgbClr val="66F4D0"/>
                </a:solidFill>
                <a:latin typeface="Aptos Mono"/>
              </a:rPr>
              <a:t>REPRODUCIBLE VALIDATION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58368" y="2834640"/>
            <a:ext cx="10972800" cy="2907792"/>
          </a:xfrm>
          <a:prstGeom prst="roundRect">
            <a:avLst/>
          </a:prstGeom>
          <a:solidFill>
            <a:srgbClr val="111B2B"/>
          </a:solidFill>
          <a:ln w="10160">
            <a:solidFill>
              <a:srgbClr val="1E2D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96112" y="3090672"/>
            <a:ext cx="32004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70819A"/>
                </a:solidFill>
                <a:latin typeface="Aptos Mono"/>
              </a:rPr>
              <a:t>01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26464" y="3090672"/>
            <a:ext cx="3035808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4F7FB"/>
                </a:solidFill>
                <a:latin typeface="Aptos Mono"/>
              </a:rPr>
              <a:t>RED  →  LLM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736592" y="3072384"/>
            <a:ext cx="914400" cy="237744"/>
          </a:xfrm>
          <a:prstGeom prst="roundRect">
            <a:avLst/>
          </a:prstGeom>
          <a:solidFill>
            <a:srgbClr val="101B2B"/>
          </a:solidFill>
          <a:ln w="10160">
            <a:solidFill>
              <a:srgbClr val="66F4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736592" y="3081527"/>
            <a:ext cx="914400" cy="201168"/>
          </a:xfrm>
          <a:prstGeom prst="rect">
            <a:avLst/>
          </a:prstGeom>
          <a:noFill/>
        </p:spPr>
        <p:txBody>
          <a:bodyPr wrap="square" lIns="9144" rIns="9144" tIns="9144" bIns="9144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40" b="1" i="0">
                <a:solidFill>
                  <a:srgbClr val="F4F7FB"/>
                </a:solidFill>
                <a:latin typeface="Aptos Mono"/>
              </a:rPr>
              <a:t>ALLOW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172200" y="3090672"/>
            <a:ext cx="425196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80" b="0" i="0">
                <a:solidFill>
                  <a:srgbClr val="A8B4C6"/>
                </a:solidFill>
                <a:latin typeface="Aptos"/>
              </a:rPr>
              <a:t>authorized evaluation flow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561320" y="3090672"/>
            <a:ext cx="566928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00" b="1" i="0" spc="40">
                <a:solidFill>
                  <a:srgbClr val="66F4D0"/>
                </a:solidFill>
                <a:latin typeface="Aptos Mono"/>
              </a:rPr>
              <a:t>PASS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877824" y="3456432"/>
            <a:ext cx="10506456" cy="0"/>
          </a:xfrm>
          <a:prstGeom prst="line">
            <a:avLst/>
          </a:prstGeom>
          <a:ln w="6985">
            <a:solidFill>
              <a:srgbClr val="1E2D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896112" y="3529584"/>
            <a:ext cx="32004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70819A"/>
                </a:solidFill>
                <a:latin typeface="Aptos Mono"/>
              </a:rPr>
              <a:t>02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426464" y="3529584"/>
            <a:ext cx="3035808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4F7FB"/>
                </a:solidFill>
                <a:latin typeface="Aptos Mono"/>
              </a:rPr>
              <a:t>RED  →  BLUE PRIVATE DATA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736592" y="3511296"/>
            <a:ext cx="914400" cy="237744"/>
          </a:xfrm>
          <a:prstGeom prst="roundRect">
            <a:avLst/>
          </a:prstGeom>
          <a:solidFill>
            <a:srgbClr val="101B2B"/>
          </a:solidFill>
          <a:ln w="10160">
            <a:solidFill>
              <a:srgbClr val="FF53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736592" y="3520439"/>
            <a:ext cx="914400" cy="201168"/>
          </a:xfrm>
          <a:prstGeom prst="rect">
            <a:avLst/>
          </a:prstGeom>
          <a:noFill/>
        </p:spPr>
        <p:txBody>
          <a:bodyPr wrap="square" lIns="9144" rIns="9144" tIns="9144" bIns="9144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40" b="1" i="0">
                <a:solidFill>
                  <a:srgbClr val="F4F7FB"/>
                </a:solidFill>
                <a:latin typeface="Aptos Mono"/>
              </a:rPr>
              <a:t>BLOCK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172200" y="3529584"/>
            <a:ext cx="425196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80" b="0" i="0">
                <a:solidFill>
                  <a:srgbClr val="A8B4C6"/>
                </a:solidFill>
                <a:latin typeface="Aptos"/>
              </a:rPr>
              <a:t>cross-role data boundary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561320" y="3529584"/>
            <a:ext cx="566928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00" b="1" i="0" spc="40">
                <a:solidFill>
                  <a:srgbClr val="66F4D0"/>
                </a:solidFill>
                <a:latin typeface="Aptos Mono"/>
              </a:rPr>
              <a:t>PASS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877824" y="3895344"/>
            <a:ext cx="10506456" cy="0"/>
          </a:xfrm>
          <a:prstGeom prst="line">
            <a:avLst/>
          </a:prstGeom>
          <a:ln w="6985">
            <a:solidFill>
              <a:srgbClr val="1E2D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896112" y="3968496"/>
            <a:ext cx="32004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70819A"/>
                </a:solidFill>
                <a:latin typeface="Aptos Mono"/>
              </a:rPr>
              <a:t>03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426464" y="3968496"/>
            <a:ext cx="3035808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4F7FB"/>
                </a:solidFill>
                <a:latin typeface="Aptos Mono"/>
              </a:rPr>
              <a:t>BLUE  →  RED PRIVATE DATA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4736592" y="3950208"/>
            <a:ext cx="914400" cy="237744"/>
          </a:xfrm>
          <a:prstGeom prst="roundRect">
            <a:avLst/>
          </a:prstGeom>
          <a:solidFill>
            <a:srgbClr val="101B2B"/>
          </a:solidFill>
          <a:ln w="10160">
            <a:solidFill>
              <a:srgbClr val="FF53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736592" y="3959352"/>
            <a:ext cx="914400" cy="201168"/>
          </a:xfrm>
          <a:prstGeom prst="rect">
            <a:avLst/>
          </a:prstGeom>
          <a:noFill/>
        </p:spPr>
        <p:txBody>
          <a:bodyPr wrap="square" lIns="9144" rIns="9144" tIns="9144" bIns="9144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40" b="1" i="0">
                <a:solidFill>
                  <a:srgbClr val="F4F7FB"/>
                </a:solidFill>
                <a:latin typeface="Aptos Mono"/>
              </a:rPr>
              <a:t>BLOCK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172200" y="3968496"/>
            <a:ext cx="425196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80" b="0" i="0">
                <a:solidFill>
                  <a:srgbClr val="A8B4C6"/>
                </a:solidFill>
                <a:latin typeface="Aptos"/>
              </a:rPr>
              <a:t>cross-role data boundary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561320" y="3968496"/>
            <a:ext cx="566928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00" b="1" i="0" spc="40">
                <a:solidFill>
                  <a:srgbClr val="66F4D0"/>
                </a:solidFill>
                <a:latin typeface="Aptos Mono"/>
              </a:rPr>
              <a:t>PASS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877824" y="4334256"/>
            <a:ext cx="10506456" cy="0"/>
          </a:xfrm>
          <a:prstGeom prst="line">
            <a:avLst/>
          </a:prstGeom>
          <a:ln w="6985">
            <a:solidFill>
              <a:srgbClr val="1E2D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TextBox 41"/>
          <p:cNvSpPr txBox="1"/>
          <p:nvPr/>
        </p:nvSpPr>
        <p:spPr>
          <a:xfrm>
            <a:off x="896112" y="4407408"/>
            <a:ext cx="32004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70819A"/>
                </a:solidFill>
                <a:latin typeface="Aptos Mono"/>
              </a:rPr>
              <a:t>04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426464" y="4407408"/>
            <a:ext cx="3035808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4F7FB"/>
                </a:solidFill>
                <a:latin typeface="Aptos Mono"/>
              </a:rPr>
              <a:t>RED  →  HOST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4736592" y="4389120"/>
            <a:ext cx="914400" cy="237744"/>
          </a:xfrm>
          <a:prstGeom prst="roundRect">
            <a:avLst/>
          </a:prstGeom>
          <a:solidFill>
            <a:srgbClr val="101B2B"/>
          </a:solidFill>
          <a:ln w="10160">
            <a:solidFill>
              <a:srgbClr val="FF53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736592" y="4398264"/>
            <a:ext cx="914400" cy="201168"/>
          </a:xfrm>
          <a:prstGeom prst="rect">
            <a:avLst/>
          </a:prstGeom>
          <a:noFill/>
        </p:spPr>
        <p:txBody>
          <a:bodyPr wrap="square" lIns="9144" rIns="9144" tIns="9144" bIns="9144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40" b="1" i="0">
                <a:solidFill>
                  <a:srgbClr val="F4F7FB"/>
                </a:solidFill>
                <a:latin typeface="Aptos Mono"/>
              </a:rPr>
              <a:t>BLOCK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172200" y="4407408"/>
            <a:ext cx="425196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80" b="0" i="0">
                <a:solidFill>
                  <a:srgbClr val="A8B4C6"/>
                </a:solidFill>
                <a:latin typeface="Aptos"/>
              </a:rPr>
              <a:t>host resource boundary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561320" y="4407408"/>
            <a:ext cx="566928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00" b="1" i="0" spc="40">
                <a:solidFill>
                  <a:srgbClr val="66F4D0"/>
                </a:solidFill>
                <a:latin typeface="Aptos Mono"/>
              </a:rPr>
              <a:t>PASS</a:t>
            </a:r>
          </a:p>
        </p:txBody>
      </p:sp>
      <p:cxnSp>
        <p:nvCxnSpPr>
          <p:cNvPr id="48" name="Connector 47"/>
          <p:cNvCxnSpPr/>
          <p:nvPr/>
        </p:nvCxnSpPr>
        <p:spPr>
          <a:xfrm>
            <a:off x="877824" y="4773168"/>
            <a:ext cx="10506456" cy="0"/>
          </a:xfrm>
          <a:prstGeom prst="line">
            <a:avLst/>
          </a:prstGeom>
          <a:ln w="6985">
            <a:solidFill>
              <a:srgbClr val="1E2D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TextBox 48"/>
          <p:cNvSpPr txBox="1"/>
          <p:nvPr/>
        </p:nvSpPr>
        <p:spPr>
          <a:xfrm>
            <a:off x="896112" y="4846320"/>
            <a:ext cx="32004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70819A"/>
                </a:solidFill>
                <a:latin typeface="Aptos Mono"/>
              </a:rPr>
              <a:t>05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426464" y="4846320"/>
            <a:ext cx="3035808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4F7FB"/>
                </a:solidFill>
                <a:latin typeface="Aptos Mono"/>
              </a:rPr>
              <a:t>CROSS-SESSION DATA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4736592" y="4828032"/>
            <a:ext cx="914400" cy="237744"/>
          </a:xfrm>
          <a:prstGeom prst="roundRect">
            <a:avLst/>
          </a:prstGeom>
          <a:solidFill>
            <a:srgbClr val="101B2B"/>
          </a:solidFill>
          <a:ln w="10160">
            <a:solidFill>
              <a:srgbClr val="FF53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4736592" y="4837176"/>
            <a:ext cx="914400" cy="201168"/>
          </a:xfrm>
          <a:prstGeom prst="rect">
            <a:avLst/>
          </a:prstGeom>
          <a:noFill/>
        </p:spPr>
        <p:txBody>
          <a:bodyPr wrap="square" lIns="9144" rIns="9144" tIns="9144" bIns="9144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40" b="1" i="0">
                <a:solidFill>
                  <a:srgbClr val="F4F7FB"/>
                </a:solidFill>
                <a:latin typeface="Aptos Mono"/>
              </a:rPr>
              <a:t>BLOCK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172200" y="4846320"/>
            <a:ext cx="425196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80" b="0" i="0">
                <a:solidFill>
                  <a:srgbClr val="A8B4C6"/>
                </a:solidFill>
                <a:latin typeface="Aptos"/>
              </a:rPr>
              <a:t>session isolation boundary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0561320" y="4846320"/>
            <a:ext cx="566928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00" b="1" i="0" spc="40">
                <a:solidFill>
                  <a:srgbClr val="66F4D0"/>
                </a:solidFill>
                <a:latin typeface="Aptos Mono"/>
              </a:rPr>
              <a:t>PASS</a:t>
            </a:r>
          </a:p>
        </p:txBody>
      </p:sp>
      <p:cxnSp>
        <p:nvCxnSpPr>
          <p:cNvPr id="55" name="Connector 54"/>
          <p:cNvCxnSpPr/>
          <p:nvPr/>
        </p:nvCxnSpPr>
        <p:spPr>
          <a:xfrm>
            <a:off x="877824" y="5212080"/>
            <a:ext cx="10506456" cy="0"/>
          </a:xfrm>
          <a:prstGeom prst="line">
            <a:avLst/>
          </a:prstGeom>
          <a:ln w="6985">
            <a:solidFill>
              <a:srgbClr val="1E2D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" name="TextBox 55"/>
          <p:cNvSpPr txBox="1"/>
          <p:nvPr/>
        </p:nvSpPr>
        <p:spPr>
          <a:xfrm>
            <a:off x="896112" y="5285232"/>
            <a:ext cx="32004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70819A"/>
                </a:solidFill>
                <a:latin typeface="Aptos Mono"/>
              </a:rPr>
              <a:t>06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426464" y="5285232"/>
            <a:ext cx="3035808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4F7FB"/>
                </a:solidFill>
                <a:latin typeface="Aptos Mono"/>
              </a:rPr>
              <a:t>AUDIT TAMPERING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4736592" y="5266944"/>
            <a:ext cx="1115568" cy="237744"/>
          </a:xfrm>
          <a:prstGeom prst="roundRect">
            <a:avLst/>
          </a:prstGeom>
          <a:solidFill>
            <a:srgbClr val="101B2B"/>
          </a:solidFill>
          <a:ln w="10160">
            <a:solidFill>
              <a:srgbClr val="F7C8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4736592" y="5276088"/>
            <a:ext cx="1115568" cy="201168"/>
          </a:xfrm>
          <a:prstGeom prst="rect">
            <a:avLst/>
          </a:prstGeom>
          <a:noFill/>
        </p:spPr>
        <p:txBody>
          <a:bodyPr wrap="square" lIns="9144" rIns="9144" tIns="9144" bIns="9144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40" b="1" i="0">
                <a:solidFill>
                  <a:srgbClr val="F4F7FB"/>
                </a:solidFill>
                <a:latin typeface="Aptos Mono"/>
              </a:rPr>
              <a:t>DETECTED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172200" y="5285232"/>
            <a:ext cx="425196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80" b="0" i="0">
                <a:solidFill>
                  <a:srgbClr val="A8B4C6"/>
                </a:solidFill>
                <a:latin typeface="Aptos"/>
              </a:rPr>
              <a:t>HMAC chain integrity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561320" y="5285232"/>
            <a:ext cx="566928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00" b="1" i="0" spc="40">
                <a:solidFill>
                  <a:srgbClr val="66F4D0"/>
                </a:solidFill>
                <a:latin typeface="Aptos Mono"/>
              </a:rPr>
              <a:t>PASS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694944" y="5980176"/>
            <a:ext cx="868680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60" b="0" i="1">
                <a:solidFill>
                  <a:srgbClr val="70819A"/>
                </a:solidFill>
                <a:latin typeface="Aptos"/>
              </a:rPr>
              <a:t>The claim is bounded: application policy is proven; host-kernel sandboxing is not claimed.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B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quie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B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" name="Connector 4"/>
          <p:cNvCxnSpPr/>
          <p:nvPr/>
        </p:nvCxnSpPr>
        <p:spPr>
          <a:xfrm>
            <a:off x="658368" y="329184"/>
            <a:ext cx="10881360" cy="0"/>
          </a:xfrm>
          <a:prstGeom prst="line">
            <a:avLst/>
          </a:prstGeom>
          <a:ln w="10160">
            <a:solidFill>
              <a:srgbClr val="1E2D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58368" y="109728"/>
            <a:ext cx="384048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20" b="1" i="0" spc="100">
                <a:solidFill>
                  <a:srgbClr val="70819A"/>
                </a:solidFill>
                <a:latin typeface="Aptos Mono"/>
              </a:rPr>
              <a:t>BAYORA / CREDIBILITY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45952" y="91440"/>
            <a:ext cx="45720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66F4D0"/>
                </a:solidFill>
                <a:latin typeface="Aptos Mono"/>
              </a:rPr>
              <a:t>06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658368" y="6510528"/>
            <a:ext cx="10881360" cy="0"/>
          </a:xfrm>
          <a:prstGeom prst="line">
            <a:avLst/>
          </a:prstGeom>
          <a:ln w="10160">
            <a:solidFill>
              <a:srgbClr val="1E2D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658368" y="6601968"/>
            <a:ext cx="4206240" cy="1371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680" b="1" i="0" spc="85">
                <a:solidFill>
                  <a:srgbClr val="70819A"/>
                </a:solidFill>
                <a:latin typeface="Aptos Mono"/>
              </a:rPr>
              <a:t>ATTACK SURFACE → POLICY → EVIDENCE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58200" y="6601968"/>
            <a:ext cx="3081528" cy="1371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680" b="1" i="0" spc="70">
                <a:solidFill>
                  <a:srgbClr val="70819A"/>
                </a:solidFill>
                <a:latin typeface="Aptos Mono"/>
              </a:rPr>
              <a:t>HACK IN HILLS / PITCH DECK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585216"/>
            <a:ext cx="7498079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1" i="0" spc="120">
                <a:solidFill>
                  <a:srgbClr val="66F4D0"/>
                </a:solidFill>
                <a:latin typeface="Aptos Mono"/>
              </a:rPr>
              <a:t>THE CREDIBILITY LAYER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859536"/>
            <a:ext cx="7498079" cy="6583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 spc="-10">
                <a:solidFill>
                  <a:srgbClr val="F4F7FB"/>
                </a:solidFill>
                <a:latin typeface="Aptos Display"/>
              </a:rPr>
              <a:t>Designed for evidence — not theatre.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" y="1572768"/>
            <a:ext cx="7498079" cy="4754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A8B4C6"/>
                </a:solidFill>
                <a:latin typeface="Aptos"/>
              </a:rPr>
              <a:t>Bayora makes the honest state visible: what ran, where it ran, which policy decided, and what a reviewer can verify.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1847088"/>
            <a:ext cx="6565392" cy="4160520"/>
          </a:xfrm>
          <a:prstGeom prst="roundRect">
            <a:avLst/>
          </a:prstGeom>
          <a:solidFill>
            <a:srgbClr val="0A111C"/>
          </a:solidFill>
          <a:ln w="10160">
            <a:solidFill>
              <a:srgbClr val="1E2D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58368" y="1847088"/>
            <a:ext cx="6565392" cy="384048"/>
          </a:xfrm>
          <a:prstGeom prst="roundRect">
            <a:avLst/>
          </a:prstGeom>
          <a:solidFill>
            <a:srgbClr val="101A2A"/>
          </a:solidFill>
          <a:ln w="10160">
            <a:solidFill>
              <a:srgbClr val="1E2D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59536" y="1984248"/>
            <a:ext cx="91440" cy="91440"/>
          </a:xfrm>
          <a:prstGeom prst="ellipse">
            <a:avLst/>
          </a:prstGeom>
          <a:solidFill>
            <a:srgbClr val="FF53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024128" y="1984248"/>
            <a:ext cx="91440" cy="91440"/>
          </a:xfrm>
          <a:prstGeom prst="ellipse">
            <a:avLst/>
          </a:prstGeom>
          <a:solidFill>
            <a:srgbClr val="F7C8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188720" y="1984248"/>
            <a:ext cx="91440" cy="91440"/>
          </a:xfrm>
          <a:prstGeom prst="ellipse">
            <a:avLst/>
          </a:prstGeom>
          <a:solidFill>
            <a:srgbClr val="66F4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481328" y="1956816"/>
            <a:ext cx="310896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40" b="1" i="0" spc="55">
                <a:solidFill>
                  <a:srgbClr val="A8B4C6"/>
                </a:solidFill>
                <a:latin typeface="Aptos Mono"/>
              </a:rPr>
              <a:t>BAYORA  /  SECURITY EVALUATION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815584" y="1929384"/>
            <a:ext cx="1005840" cy="237744"/>
          </a:xfrm>
          <a:prstGeom prst="roundRect">
            <a:avLst/>
          </a:prstGeom>
          <a:solidFill>
            <a:srgbClr val="0B2928"/>
          </a:solidFill>
          <a:ln w="10160">
            <a:solidFill>
              <a:srgbClr val="66F4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815584" y="1938527"/>
            <a:ext cx="1005840" cy="201168"/>
          </a:xfrm>
          <a:prstGeom prst="rect">
            <a:avLst/>
          </a:prstGeom>
          <a:noFill/>
        </p:spPr>
        <p:txBody>
          <a:bodyPr wrap="square" lIns="9144" rIns="9144" tIns="9144" bIns="9144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60" b="1" i="0">
                <a:solidFill>
                  <a:srgbClr val="F4F7FB"/>
                </a:solidFill>
                <a:latin typeface="Aptos Mono"/>
              </a:rPr>
              <a:t>ADMIN / ACTIVE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32688" y="2514600"/>
            <a:ext cx="210312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19" b="1" i="0" spc="65">
                <a:solidFill>
                  <a:srgbClr val="66F4D0"/>
                </a:solidFill>
                <a:latin typeface="Aptos Mono"/>
              </a:rPr>
              <a:t>CONTROL PLANE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32688" y="2852928"/>
            <a:ext cx="777240" cy="1554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20" b="1" i="0">
                <a:solidFill>
                  <a:srgbClr val="70819A"/>
                </a:solidFill>
                <a:latin typeface="Aptos Mono"/>
              </a:rPr>
              <a:t>Provider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32688" y="3044952"/>
            <a:ext cx="987552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4F7FB"/>
                </a:solidFill>
                <a:latin typeface="Aptos Display"/>
              </a:rPr>
              <a:t>FIXTURE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249424" y="2852928"/>
            <a:ext cx="777240" cy="1554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20" b="1" i="0">
                <a:solidFill>
                  <a:srgbClr val="70819A"/>
                </a:solidFill>
                <a:latin typeface="Aptos Mono"/>
              </a:rPr>
              <a:t>Policy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249424" y="3044952"/>
            <a:ext cx="141732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4F7FB"/>
                </a:solidFill>
                <a:latin typeface="Aptos Display"/>
              </a:rPr>
              <a:t>DEFAULT DENY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950208" y="2852928"/>
            <a:ext cx="777240" cy="1554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20" b="1" i="0">
                <a:solidFill>
                  <a:srgbClr val="70819A"/>
                </a:solidFill>
                <a:latin typeface="Aptos Mono"/>
              </a:rPr>
              <a:t>Audit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950208" y="3044952"/>
            <a:ext cx="1078992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66F4D0"/>
                </a:solidFill>
                <a:latin typeface="Aptos Display"/>
              </a:rPr>
              <a:t>VERIFIED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358384" y="2852928"/>
            <a:ext cx="777240" cy="1554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20" b="1" i="0">
                <a:solidFill>
                  <a:srgbClr val="70819A"/>
                </a:solidFill>
                <a:latin typeface="Aptos Mono"/>
              </a:rPr>
              <a:t>Role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358384" y="3044952"/>
            <a:ext cx="128016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4F7FB"/>
                </a:solidFill>
                <a:latin typeface="Aptos Display"/>
              </a:rPr>
              <a:t>SEC ADMIN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932688" y="3547872"/>
            <a:ext cx="5980176" cy="0"/>
          </a:xfrm>
          <a:prstGeom prst="line">
            <a:avLst/>
          </a:prstGeom>
          <a:ln w="7620">
            <a:solidFill>
              <a:srgbClr val="1E2D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932688" y="3749039"/>
            <a:ext cx="182880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50" b="1" i="0" spc="65">
                <a:solidFill>
                  <a:srgbClr val="70819A"/>
                </a:solidFill>
                <a:latin typeface="Aptos Mono"/>
              </a:rPr>
              <a:t>EVALUATION SESSIONS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980176" y="3749039"/>
            <a:ext cx="68580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750" b="1" i="0" spc="65">
                <a:solidFill>
                  <a:srgbClr val="70819A"/>
                </a:solidFill>
                <a:latin typeface="Aptos Mono"/>
              </a:rPr>
              <a:t>STATE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932688" y="4005072"/>
            <a:ext cx="5980176" cy="0"/>
          </a:xfrm>
          <a:prstGeom prst="line">
            <a:avLst/>
          </a:prstGeom>
          <a:ln w="5080">
            <a:solidFill>
              <a:srgbClr val="1E2D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932688" y="4114800"/>
            <a:ext cx="132588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19" b="1" i="0">
                <a:solidFill>
                  <a:srgbClr val="F4F7FB"/>
                </a:solidFill>
                <a:latin typeface="Aptos Mono"/>
              </a:rPr>
              <a:t>7f3c…b91a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468880" y="4114800"/>
            <a:ext cx="141732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80" b="0" i="0">
                <a:solidFill>
                  <a:srgbClr val="A8B4C6"/>
                </a:solidFill>
                <a:latin typeface="Aptos"/>
              </a:rPr>
              <a:t>red-analyst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023360" y="4114800"/>
            <a:ext cx="169164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30" b="0" i="0">
                <a:solidFill>
                  <a:srgbClr val="70819A"/>
                </a:solidFill>
                <a:latin typeface="Aptos Mono"/>
              </a:rPr>
              <a:t>policy → worker → audit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852160" y="4114800"/>
            <a:ext cx="1060704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66F4D0"/>
                </a:solidFill>
                <a:latin typeface="Aptos Mono"/>
              </a:rPr>
              <a:t>ALLOW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932688" y="4480559"/>
            <a:ext cx="5980176" cy="0"/>
          </a:xfrm>
          <a:prstGeom prst="line">
            <a:avLst/>
          </a:prstGeom>
          <a:ln w="5080">
            <a:solidFill>
              <a:srgbClr val="1E2D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TextBox 39"/>
          <p:cNvSpPr txBox="1"/>
          <p:nvPr/>
        </p:nvSpPr>
        <p:spPr>
          <a:xfrm>
            <a:off x="932688" y="4590288"/>
            <a:ext cx="132588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19" b="1" i="0">
                <a:solidFill>
                  <a:srgbClr val="F4F7FB"/>
                </a:solidFill>
                <a:latin typeface="Aptos Mono"/>
              </a:rPr>
              <a:t>4a81…c220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468880" y="4590288"/>
            <a:ext cx="141732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80" b="0" i="0">
                <a:solidFill>
                  <a:srgbClr val="A8B4C6"/>
                </a:solidFill>
                <a:latin typeface="Aptos"/>
              </a:rPr>
              <a:t>blue-review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023360" y="4590288"/>
            <a:ext cx="169164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30" b="0" i="0">
                <a:solidFill>
                  <a:srgbClr val="70819A"/>
                </a:solidFill>
                <a:latin typeface="Aptos Mono"/>
              </a:rPr>
              <a:t>policy → worker → audit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852160" y="4590288"/>
            <a:ext cx="1060704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FF536E"/>
                </a:solidFill>
                <a:latin typeface="Aptos Mono"/>
              </a:rPr>
              <a:t>BLOCKED</a:t>
            </a:r>
          </a:p>
        </p:txBody>
      </p:sp>
      <p:cxnSp>
        <p:nvCxnSpPr>
          <p:cNvPr id="44" name="Connector 43"/>
          <p:cNvCxnSpPr/>
          <p:nvPr/>
        </p:nvCxnSpPr>
        <p:spPr>
          <a:xfrm>
            <a:off x="932688" y="4956047"/>
            <a:ext cx="5980176" cy="0"/>
          </a:xfrm>
          <a:prstGeom prst="line">
            <a:avLst/>
          </a:prstGeom>
          <a:ln w="5080">
            <a:solidFill>
              <a:srgbClr val="1E2D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TextBox 44"/>
          <p:cNvSpPr txBox="1"/>
          <p:nvPr/>
        </p:nvSpPr>
        <p:spPr>
          <a:xfrm>
            <a:off x="932688" y="5065775"/>
            <a:ext cx="132588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19" b="1" i="0">
                <a:solidFill>
                  <a:srgbClr val="F4F7FB"/>
                </a:solidFill>
                <a:latin typeface="Aptos Mono"/>
              </a:rPr>
              <a:t>a01d…22fe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2468880" y="5065775"/>
            <a:ext cx="141732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80" b="0" i="0">
                <a:solidFill>
                  <a:srgbClr val="A8B4C6"/>
                </a:solidFill>
                <a:latin typeface="Aptos"/>
              </a:rPr>
              <a:t>auditor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023360" y="5065775"/>
            <a:ext cx="169164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30" b="0" i="0">
                <a:solidFill>
                  <a:srgbClr val="70819A"/>
                </a:solidFill>
                <a:latin typeface="Aptos Mono"/>
              </a:rPr>
              <a:t>policy → worker → audit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852160" y="5065775"/>
            <a:ext cx="1060704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66F4D0"/>
                </a:solidFill>
                <a:latin typeface="Aptos Mono"/>
              </a:rPr>
              <a:t>VERIFIED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32688" y="5541264"/>
            <a:ext cx="338328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60" b="1" i="0" spc="38">
                <a:solidFill>
                  <a:srgbClr val="F7C86A"/>
                </a:solidFill>
                <a:latin typeface="Aptos Mono"/>
              </a:rPr>
              <a:t>TEST FIXTURE — NOT REAL MODEL EVIDENCE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699248" y="2029968"/>
            <a:ext cx="347472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1" i="0" spc="82">
                <a:solidFill>
                  <a:srgbClr val="66F4D0"/>
                </a:solidFill>
                <a:latin typeface="Aptos Mono"/>
              </a:rPr>
              <a:t>WHY JUDGES CAN TRUST THE DEMO</a:t>
            </a:r>
          </a:p>
        </p:txBody>
      </p:sp>
      <p:sp>
        <p:nvSpPr>
          <p:cNvPr id="51" name="Oval 50"/>
          <p:cNvSpPr/>
          <p:nvPr/>
        </p:nvSpPr>
        <p:spPr>
          <a:xfrm>
            <a:off x="7699248" y="2532888"/>
            <a:ext cx="201168" cy="201168"/>
          </a:xfrm>
          <a:prstGeom prst="ellipse">
            <a:avLst/>
          </a:prstGeom>
          <a:solidFill>
            <a:srgbClr val="66F4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7699248" y="2523744"/>
            <a:ext cx="201168" cy="20116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070B13"/>
                </a:solidFill>
                <a:latin typeface="Aptos"/>
              </a:rPr>
              <a:t>✓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991856" y="2523744"/>
            <a:ext cx="3108960" cy="21945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F4F7FB"/>
                </a:solidFill>
                <a:latin typeface="Aptos"/>
              </a:rPr>
              <a:t>No silent fallback from real provider to fixture</a:t>
            </a:r>
          </a:p>
        </p:txBody>
      </p:sp>
      <p:sp>
        <p:nvSpPr>
          <p:cNvPr id="54" name="Oval 53"/>
          <p:cNvSpPr/>
          <p:nvPr/>
        </p:nvSpPr>
        <p:spPr>
          <a:xfrm>
            <a:off x="7699248" y="3182112"/>
            <a:ext cx="201168" cy="201168"/>
          </a:xfrm>
          <a:prstGeom prst="ellipse">
            <a:avLst/>
          </a:prstGeom>
          <a:solidFill>
            <a:srgbClr val="5D9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7699248" y="3172968"/>
            <a:ext cx="201168" cy="20116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070B13"/>
                </a:solidFill>
                <a:latin typeface="Aptos"/>
              </a:rPr>
              <a:t>✓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991856" y="3172968"/>
            <a:ext cx="3108960" cy="21945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F4F7FB"/>
                </a:solidFill>
                <a:latin typeface="Aptos"/>
              </a:rPr>
              <a:t>Raw prompts stay out of audit payloads</a:t>
            </a:r>
          </a:p>
        </p:txBody>
      </p:sp>
      <p:sp>
        <p:nvSpPr>
          <p:cNvPr id="57" name="Oval 56"/>
          <p:cNvSpPr/>
          <p:nvPr/>
        </p:nvSpPr>
        <p:spPr>
          <a:xfrm>
            <a:off x="7699248" y="3831336"/>
            <a:ext cx="201168" cy="201168"/>
          </a:xfrm>
          <a:prstGeom prst="ellipse">
            <a:avLst/>
          </a:prstGeom>
          <a:solidFill>
            <a:srgbClr val="F7C8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7699248" y="3822192"/>
            <a:ext cx="201168" cy="20116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070B13"/>
                </a:solidFill>
                <a:latin typeface="Aptos"/>
              </a:rPr>
              <a:t>✓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7991856" y="3822192"/>
            <a:ext cx="3108960" cy="21945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F4F7FB"/>
                </a:solidFill>
                <a:latin typeface="Aptos"/>
              </a:rPr>
              <a:t>Evidence type is visible and labeled</a:t>
            </a:r>
          </a:p>
        </p:txBody>
      </p:sp>
      <p:sp>
        <p:nvSpPr>
          <p:cNvPr id="60" name="Oval 59"/>
          <p:cNvSpPr/>
          <p:nvPr/>
        </p:nvSpPr>
        <p:spPr>
          <a:xfrm>
            <a:off x="7699248" y="4480560"/>
            <a:ext cx="201168" cy="201168"/>
          </a:xfrm>
          <a:prstGeom prst="ellipse">
            <a:avLst/>
          </a:prstGeom>
          <a:solidFill>
            <a:srgbClr val="9A8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7699248" y="4471416"/>
            <a:ext cx="201168" cy="20116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070B13"/>
                </a:solidFill>
                <a:latin typeface="Aptos"/>
              </a:rPr>
              <a:t>✓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7991856" y="4471416"/>
            <a:ext cx="3108960" cy="21945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F4F7FB"/>
                </a:solidFill>
                <a:latin typeface="Aptos"/>
              </a:rPr>
              <a:t>Every decision keeps tenant + session scope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7699248" y="5230368"/>
            <a:ext cx="3931920" cy="768096"/>
          </a:xfrm>
          <a:prstGeom prst="roundRect">
            <a:avLst/>
          </a:prstGeom>
          <a:solidFill>
            <a:srgbClr val="0E1C2C"/>
          </a:solidFill>
          <a:ln w="10160">
            <a:solidFill>
              <a:srgbClr val="66F4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7955279" y="5404104"/>
            <a:ext cx="1152144" cy="146304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20" b="1" i="0" spc="55">
                <a:solidFill>
                  <a:srgbClr val="70819A"/>
                </a:solidFill>
                <a:latin typeface="Aptos Mono"/>
              </a:rPr>
              <a:t>SECURITY CLAIM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9198864" y="5376672"/>
            <a:ext cx="2130552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80" b="1" i="0">
                <a:solidFill>
                  <a:srgbClr val="F4F7FB"/>
                </a:solidFill>
                <a:latin typeface="Aptos Display"/>
              </a:rPr>
              <a:t>→  mechanism  →  evidence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B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quie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B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" name="Connector 4"/>
          <p:cNvCxnSpPr/>
          <p:nvPr/>
        </p:nvCxnSpPr>
        <p:spPr>
          <a:xfrm>
            <a:off x="658368" y="329184"/>
            <a:ext cx="10881360" cy="0"/>
          </a:xfrm>
          <a:prstGeom prst="line">
            <a:avLst/>
          </a:prstGeom>
          <a:ln w="10160">
            <a:solidFill>
              <a:srgbClr val="1E2D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58368" y="109728"/>
            <a:ext cx="384048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20" b="1" i="0" spc="100">
                <a:solidFill>
                  <a:srgbClr val="70819A"/>
                </a:solidFill>
                <a:latin typeface="Aptos Mono"/>
              </a:rPr>
              <a:t>BAYORA / WHY NOW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45952" y="91440"/>
            <a:ext cx="45720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66F4D0"/>
                </a:solidFill>
                <a:latin typeface="Aptos Mono"/>
              </a:rPr>
              <a:t>07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658368" y="6510528"/>
            <a:ext cx="10881360" cy="0"/>
          </a:xfrm>
          <a:prstGeom prst="line">
            <a:avLst/>
          </a:prstGeom>
          <a:ln w="10160">
            <a:solidFill>
              <a:srgbClr val="1E2D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658368" y="6601968"/>
            <a:ext cx="4206240" cy="1371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680" b="1" i="0" spc="85">
                <a:solidFill>
                  <a:srgbClr val="70819A"/>
                </a:solidFill>
                <a:latin typeface="Aptos Mono"/>
              </a:rPr>
              <a:t>ATTACK SURFACE → POLICY → EVIDENCE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58200" y="6601968"/>
            <a:ext cx="3081528" cy="1371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680" b="1" i="0" spc="70">
                <a:solidFill>
                  <a:srgbClr val="70819A"/>
                </a:solidFill>
                <a:latin typeface="Aptos Mono"/>
              </a:rPr>
              <a:t>HACK IN HILLS / PITCH DECK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585216"/>
            <a:ext cx="786384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1" i="0" spc="120">
                <a:solidFill>
                  <a:srgbClr val="66F4D0"/>
                </a:solidFill>
                <a:latin typeface="Aptos Mono"/>
              </a:rPr>
              <a:t>WHY NOW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859536"/>
            <a:ext cx="7863840" cy="6583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 spc="-10">
                <a:solidFill>
                  <a:srgbClr val="F4F7FB"/>
                </a:solidFill>
                <a:latin typeface="Aptos Display"/>
              </a:rPr>
              <a:t>A wedge into the AI governance stack.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" y="1572768"/>
            <a:ext cx="7863840" cy="4754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A8B4C6"/>
                </a:solidFill>
                <a:latin typeface="Aptos"/>
              </a:rPr>
              <a:t>As AI moves from prototype to production, the security workflow must move from prompt experiments to repeatable evidence.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1901952"/>
            <a:ext cx="128016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1" i="0" spc="90">
                <a:solidFill>
                  <a:srgbClr val="66F4D0"/>
                </a:solidFill>
                <a:latin typeface="Aptos Mono"/>
              </a:rPr>
              <a:t>FIRST USERS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58368" y="2258568"/>
            <a:ext cx="3931920" cy="658368"/>
          </a:xfrm>
          <a:prstGeom prst="roundRect">
            <a:avLst/>
          </a:prstGeom>
          <a:solidFill>
            <a:srgbClr val="111B2B"/>
          </a:solidFill>
          <a:ln w="10160">
            <a:solidFill>
              <a:srgbClr val="66F4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96112" y="2459736"/>
            <a:ext cx="256032" cy="256032"/>
          </a:xfrm>
          <a:prstGeom prst="ellipse">
            <a:avLst/>
          </a:prstGeom>
          <a:solidFill>
            <a:srgbClr val="66F4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96112" y="2432304"/>
            <a:ext cx="256032" cy="23774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70B13"/>
                </a:solidFill>
                <a:latin typeface="Aptos"/>
              </a:rPr>
              <a:t>•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2404872"/>
            <a:ext cx="201168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80" b="1" i="0" spc="38">
                <a:solidFill>
                  <a:srgbClr val="F4F7FB"/>
                </a:solidFill>
                <a:latin typeface="Aptos Mono"/>
              </a:rPr>
              <a:t>AI BUILDERS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2624328"/>
            <a:ext cx="260604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A8B4C6"/>
                </a:solidFill>
                <a:latin typeface="Aptos"/>
              </a:rPr>
              <a:t>Ship safer features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58368" y="3099816"/>
            <a:ext cx="3931920" cy="658368"/>
          </a:xfrm>
          <a:prstGeom prst="roundRect">
            <a:avLst/>
          </a:prstGeom>
          <a:solidFill>
            <a:srgbClr val="111B2B"/>
          </a:solidFill>
          <a:ln w="10160">
            <a:solidFill>
              <a:srgbClr val="FF53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896112" y="3300984"/>
            <a:ext cx="256032" cy="256032"/>
          </a:xfrm>
          <a:prstGeom prst="ellipse">
            <a:avLst/>
          </a:prstGeom>
          <a:solidFill>
            <a:srgbClr val="FF53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96112" y="3273552"/>
            <a:ext cx="256032" cy="23774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70B13"/>
                </a:solidFill>
                <a:latin typeface="Aptos"/>
              </a:rPr>
              <a:t>•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71600" y="3246120"/>
            <a:ext cx="201168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80" b="1" i="0" spc="38">
                <a:solidFill>
                  <a:srgbClr val="F4F7FB"/>
                </a:solidFill>
                <a:latin typeface="Aptos Mono"/>
              </a:rPr>
              <a:t>SECURITY RESEARCHERS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0" y="3465576"/>
            <a:ext cx="260604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A8B4C6"/>
                </a:solidFill>
                <a:latin typeface="Aptos"/>
              </a:rPr>
              <a:t>Probe with guardrails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58368" y="3941064"/>
            <a:ext cx="3931920" cy="658368"/>
          </a:xfrm>
          <a:prstGeom prst="roundRect">
            <a:avLst/>
          </a:prstGeom>
          <a:solidFill>
            <a:srgbClr val="111B2B"/>
          </a:solidFill>
          <a:ln w="10160">
            <a:solidFill>
              <a:srgbClr val="5D9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96112" y="4142232"/>
            <a:ext cx="256032" cy="256032"/>
          </a:xfrm>
          <a:prstGeom prst="ellipse">
            <a:avLst/>
          </a:prstGeom>
          <a:solidFill>
            <a:srgbClr val="5D9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96112" y="4114800"/>
            <a:ext cx="256032" cy="23774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70B13"/>
                </a:solidFill>
                <a:latin typeface="Aptos"/>
              </a:rPr>
              <a:t>•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71600" y="4087368"/>
            <a:ext cx="201168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80" b="1" i="0" spc="38">
                <a:solidFill>
                  <a:srgbClr val="F4F7FB"/>
                </a:solidFill>
                <a:latin typeface="Aptos Mono"/>
              </a:rPr>
              <a:t>ENTERPRISE SECOPS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371600" y="4306824"/>
            <a:ext cx="260604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A8B4C6"/>
                </a:solidFill>
                <a:latin typeface="Aptos"/>
              </a:rPr>
              <a:t>Review defensible evidence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74920" y="1901952"/>
            <a:ext cx="128016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1" i="0" spc="90">
                <a:solidFill>
                  <a:srgbClr val="5D9CFF"/>
                </a:solidFill>
                <a:latin typeface="Aptos Mono"/>
              </a:rPr>
              <a:t>THE WEDGE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074920" y="2258568"/>
            <a:ext cx="2788920" cy="658368"/>
          </a:xfrm>
          <a:prstGeom prst="roundRect">
            <a:avLst/>
          </a:prstGeom>
          <a:solidFill>
            <a:srgbClr val="111B2B"/>
          </a:solidFill>
          <a:ln w="10160">
            <a:solidFill>
              <a:srgbClr val="66F4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276088" y="2386584"/>
            <a:ext cx="2386584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80" b="1" i="0" spc="35">
                <a:solidFill>
                  <a:srgbClr val="66F4D0"/>
                </a:solidFill>
                <a:latin typeface="Aptos Mono"/>
              </a:rPr>
              <a:t>COMMUNITY CORE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276088" y="2615184"/>
            <a:ext cx="2386584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40" b="0" i="0">
                <a:solidFill>
                  <a:srgbClr val="F4F7FB"/>
                </a:solidFill>
                <a:latin typeface="Aptos"/>
              </a:rPr>
              <a:t>Repeatable probes + local validation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074920" y="3145536"/>
            <a:ext cx="3246120" cy="658368"/>
          </a:xfrm>
          <a:prstGeom prst="roundRect">
            <a:avLst/>
          </a:prstGeom>
          <a:solidFill>
            <a:srgbClr val="111B2B"/>
          </a:solidFill>
          <a:ln w="10160">
            <a:solidFill>
              <a:srgbClr val="5D9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276088" y="3273552"/>
            <a:ext cx="2843784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80" b="1" i="0" spc="35">
                <a:solidFill>
                  <a:srgbClr val="5D9CFF"/>
                </a:solidFill>
                <a:latin typeface="Aptos Mono"/>
              </a:rPr>
              <a:t>TEAM CONTROLS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276088" y="3502152"/>
            <a:ext cx="2843784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40" b="0" i="0">
                <a:solidFill>
                  <a:srgbClr val="F4F7FB"/>
                </a:solidFill>
                <a:latin typeface="Aptos"/>
              </a:rPr>
              <a:t>Shared findings + role-scoped review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5074920" y="4032504"/>
            <a:ext cx="3657600" cy="658368"/>
          </a:xfrm>
          <a:prstGeom prst="roundRect">
            <a:avLst/>
          </a:prstGeom>
          <a:solidFill>
            <a:srgbClr val="111B2B"/>
          </a:solidFill>
          <a:ln w="10160">
            <a:solidFill>
              <a:srgbClr val="9A8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276088" y="4160520"/>
            <a:ext cx="3255264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80" b="1" i="0" spc="35">
                <a:solidFill>
                  <a:srgbClr val="9A8CFF"/>
                </a:solidFill>
                <a:latin typeface="Aptos Mono"/>
              </a:rPr>
              <a:t>ENTERPRISE EVIDENCE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276088" y="4389120"/>
            <a:ext cx="3255264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40" b="0" i="0">
                <a:solidFill>
                  <a:srgbClr val="F4F7FB"/>
                </a:solidFill>
                <a:latin typeface="Aptos"/>
              </a:rPr>
              <a:t>Identity, benchmarks, governance exports</a:t>
            </a:r>
          </a:p>
        </p:txBody>
      </p:sp>
      <p:cxnSp>
        <p:nvCxnSpPr>
          <p:cNvPr id="40" name="Connector 39"/>
          <p:cNvCxnSpPr/>
          <p:nvPr/>
        </p:nvCxnSpPr>
        <p:spPr>
          <a:xfrm>
            <a:off x="7872983" y="2916936"/>
            <a:ext cx="0" cy="210312"/>
          </a:xfrm>
          <a:prstGeom prst="line">
            <a:avLst/>
          </a:prstGeom>
          <a:ln w="15240">
            <a:solidFill>
              <a:srgbClr val="66F4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8330183" y="3803904"/>
            <a:ext cx="0" cy="210311"/>
          </a:xfrm>
          <a:prstGeom prst="line">
            <a:avLst/>
          </a:prstGeom>
          <a:ln w="15240">
            <a:solidFill>
              <a:srgbClr val="5D9C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Rounded Rectangle 41"/>
          <p:cNvSpPr/>
          <p:nvPr/>
        </p:nvSpPr>
        <p:spPr>
          <a:xfrm>
            <a:off x="9217152" y="1938528"/>
            <a:ext cx="2423160" cy="2743200"/>
          </a:xfrm>
          <a:prstGeom prst="roundRect">
            <a:avLst/>
          </a:prstGeom>
          <a:solidFill>
            <a:srgbClr val="0F1728"/>
          </a:solidFill>
          <a:ln w="10160">
            <a:solidFill>
              <a:srgbClr val="1E2D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473184" y="2221992"/>
            <a:ext cx="1901952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60" b="1" i="0" spc="70">
                <a:solidFill>
                  <a:srgbClr val="F7C86A"/>
                </a:solidFill>
                <a:latin typeface="Aptos Mono"/>
              </a:rPr>
              <a:t>CATEGORY SIGNAL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427464" y="2724912"/>
            <a:ext cx="1975104" cy="4572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F4F7FB"/>
                </a:solidFill>
                <a:latin typeface="Aptos Display"/>
              </a:rPr>
              <a:t>$308.3M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454896" y="3246120"/>
            <a:ext cx="1920240" cy="4389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30" b="0" i="0">
                <a:solidFill>
                  <a:srgbClr val="A8B4C6"/>
                </a:solidFill>
                <a:latin typeface="Aptos"/>
              </a:rPr>
              <a:t>AI governance market
reference point</a:t>
            </a:r>
          </a:p>
        </p:txBody>
      </p:sp>
      <p:cxnSp>
        <p:nvCxnSpPr>
          <p:cNvPr id="46" name="Connector 45"/>
          <p:cNvCxnSpPr/>
          <p:nvPr/>
        </p:nvCxnSpPr>
        <p:spPr>
          <a:xfrm>
            <a:off x="9628632" y="3895344"/>
            <a:ext cx="1600200" cy="0"/>
          </a:xfrm>
          <a:prstGeom prst="line">
            <a:avLst/>
          </a:prstGeom>
          <a:ln w="6985">
            <a:solidFill>
              <a:srgbClr val="1E2D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TextBox 46"/>
          <p:cNvSpPr txBox="1"/>
          <p:nvPr/>
        </p:nvSpPr>
        <p:spPr>
          <a:xfrm>
            <a:off x="9473184" y="4114800"/>
            <a:ext cx="1901952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66F4D0"/>
                </a:solidFill>
                <a:latin typeface="Aptos Display"/>
              </a:rPr>
              <a:t>36% CAGR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473184" y="4480560"/>
            <a:ext cx="1901952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10" b="0" i="0">
                <a:solidFill>
                  <a:srgbClr val="A8B4C6"/>
                </a:solidFill>
                <a:latin typeface="Aptos"/>
              </a:rPr>
              <a:t>forecast category growth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299448" y="4919472"/>
            <a:ext cx="2267712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70" b="0" i="0">
                <a:solidFill>
                  <a:srgbClr val="70819A"/>
                </a:solidFill>
                <a:latin typeface="Aptos"/>
              </a:rPr>
              <a:t>External category context — not Bayora TAM.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658368" y="5468112"/>
            <a:ext cx="10972800" cy="566928"/>
          </a:xfrm>
          <a:prstGeom prst="roundRect">
            <a:avLst/>
          </a:prstGeom>
          <a:solidFill>
            <a:srgbClr val="0D1C2C"/>
          </a:solidFill>
          <a:ln w="10160">
            <a:solidFill>
              <a:srgbClr val="66F4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896112" y="5650992"/>
            <a:ext cx="118872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80" b="1" i="0" spc="60">
                <a:solidFill>
                  <a:srgbClr val="66F4D0"/>
                </a:solidFill>
                <a:latin typeface="Aptos Mono"/>
              </a:rPr>
              <a:t>BUSINESS MODEL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2304288" y="5632704"/>
            <a:ext cx="809244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19" b="1" i="0">
                <a:solidFill>
                  <a:srgbClr val="F4F7FB"/>
                </a:solidFill>
                <a:latin typeface="Aptos Display"/>
              </a:rPr>
              <a:t>Accessible core  →  paid team controls  →  enterprise evidence + assessment services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0927080" y="5641848"/>
            <a:ext cx="45720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66F4D0"/>
                </a:solidFill>
                <a:latin typeface="Aptos Mono"/>
              </a:rPr>
              <a:t>land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B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quie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B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" name="Connector 4"/>
          <p:cNvCxnSpPr/>
          <p:nvPr/>
        </p:nvCxnSpPr>
        <p:spPr>
          <a:xfrm>
            <a:off x="658368" y="329184"/>
            <a:ext cx="10881360" cy="0"/>
          </a:xfrm>
          <a:prstGeom prst="line">
            <a:avLst/>
          </a:prstGeom>
          <a:ln w="10160">
            <a:solidFill>
              <a:srgbClr val="1E2D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58368" y="109728"/>
            <a:ext cx="384048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20" b="1" i="0" spc="100">
                <a:solidFill>
                  <a:srgbClr val="70819A"/>
                </a:solidFill>
                <a:latin typeface="Aptos Mono"/>
              </a:rPr>
              <a:t>BAYORA / ROADMAP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45952" y="91440"/>
            <a:ext cx="45720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66F4D0"/>
                </a:solidFill>
                <a:latin typeface="Aptos Mono"/>
              </a:rPr>
              <a:t>08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658368" y="6510528"/>
            <a:ext cx="10881360" cy="0"/>
          </a:xfrm>
          <a:prstGeom prst="line">
            <a:avLst/>
          </a:prstGeom>
          <a:ln w="10160">
            <a:solidFill>
              <a:srgbClr val="1E2D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658368" y="6601968"/>
            <a:ext cx="4206240" cy="1371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680" b="1" i="0" spc="85">
                <a:solidFill>
                  <a:srgbClr val="70819A"/>
                </a:solidFill>
                <a:latin typeface="Aptos Mono"/>
              </a:rPr>
              <a:t>ATTACK SURFACE → POLICY → EVIDENCE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58200" y="6601968"/>
            <a:ext cx="3081528" cy="1371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680" b="1" i="0" spc="70">
                <a:solidFill>
                  <a:srgbClr val="70819A"/>
                </a:solidFill>
                <a:latin typeface="Aptos Mono"/>
              </a:rPr>
              <a:t>HACK IN HILLS / PITCH DECK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585216"/>
            <a:ext cx="777240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1" i="0" spc="120">
                <a:solidFill>
                  <a:srgbClr val="66F4D0"/>
                </a:solidFill>
                <a:latin typeface="Aptos Mono"/>
              </a:rPr>
              <a:t>THE ROADMAP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859536"/>
            <a:ext cx="7772400" cy="6583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 spc="-10">
                <a:solidFill>
                  <a:srgbClr val="F4F7FB"/>
                </a:solidFill>
                <a:latin typeface="Aptos Display"/>
              </a:rPr>
              <a:t>Ship the wedge. Grow the moat.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" y="1572768"/>
            <a:ext cx="7772400" cy="4754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A8B4C6"/>
                </a:solidFill>
                <a:latin typeface="Aptos"/>
              </a:rPr>
              <a:t>The MVP stays focused: authorized tests, clear boundaries, and an evidence trail that survives review.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1901952"/>
            <a:ext cx="146304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1" i="0" spc="90">
                <a:solidFill>
                  <a:srgbClr val="66F4D0"/>
                </a:solidFill>
                <a:latin typeface="Aptos Mono"/>
              </a:rPr>
              <a:t>THE BUILD PATH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58368" y="4526280"/>
            <a:ext cx="2971800" cy="1737360"/>
          </a:xfrm>
          <a:prstGeom prst="roundRect">
            <a:avLst/>
          </a:prstGeom>
          <a:solidFill>
            <a:srgbClr val="111B2B"/>
          </a:solidFill>
          <a:ln w="10160">
            <a:solidFill>
              <a:srgbClr val="66F4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58368" y="4526280"/>
            <a:ext cx="2971800" cy="109728"/>
          </a:xfrm>
          <a:prstGeom prst="rect">
            <a:avLst/>
          </a:prstGeom>
          <a:solidFill>
            <a:srgbClr val="66F4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77824" y="4773168"/>
            <a:ext cx="676656" cy="237744"/>
          </a:xfrm>
          <a:prstGeom prst="roundRect">
            <a:avLst/>
          </a:prstGeom>
          <a:solidFill>
            <a:srgbClr val="101B2B"/>
          </a:solidFill>
          <a:ln w="10160">
            <a:solidFill>
              <a:srgbClr val="66F4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77824" y="4782312"/>
            <a:ext cx="676656" cy="201168"/>
          </a:xfrm>
          <a:prstGeom prst="rect">
            <a:avLst/>
          </a:prstGeom>
          <a:noFill/>
        </p:spPr>
        <p:txBody>
          <a:bodyPr wrap="square" lIns="9144" rIns="9144" tIns="9144" bIns="9144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40" b="1" i="0">
                <a:solidFill>
                  <a:srgbClr val="F4F7FB"/>
                </a:solidFill>
                <a:latin typeface="Aptos Mono"/>
              </a:rPr>
              <a:t>NOW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77824" y="5184648"/>
            <a:ext cx="2532888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30" b="1" i="0">
                <a:solidFill>
                  <a:srgbClr val="F4F7FB"/>
                </a:solidFill>
                <a:latin typeface="Aptos Display"/>
              </a:rPr>
              <a:t>PROVE THE WEDGE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77824" y="5550408"/>
            <a:ext cx="2532888" cy="530352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A8B4C6"/>
                </a:solidFill>
                <a:latin typeface="Aptos"/>
              </a:rPr>
              <a:t>Repeatable authorized tests
Tenant + session boundaries
Signed audit trail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904487" y="3749039"/>
            <a:ext cx="2971800" cy="1737360"/>
          </a:xfrm>
          <a:prstGeom prst="roundRect">
            <a:avLst/>
          </a:prstGeom>
          <a:solidFill>
            <a:srgbClr val="111B2B"/>
          </a:solidFill>
          <a:ln w="10160">
            <a:solidFill>
              <a:srgbClr val="5D9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3904487" y="3749039"/>
            <a:ext cx="2971800" cy="109728"/>
          </a:xfrm>
          <a:prstGeom prst="rect">
            <a:avLst/>
          </a:prstGeom>
          <a:solidFill>
            <a:srgbClr val="5D9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4123944" y="3995927"/>
            <a:ext cx="676656" cy="237744"/>
          </a:xfrm>
          <a:prstGeom prst="roundRect">
            <a:avLst/>
          </a:prstGeom>
          <a:solidFill>
            <a:srgbClr val="101B2B"/>
          </a:solidFill>
          <a:ln w="10160">
            <a:solidFill>
              <a:srgbClr val="5D9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123944" y="4005071"/>
            <a:ext cx="676656" cy="201168"/>
          </a:xfrm>
          <a:prstGeom prst="rect">
            <a:avLst/>
          </a:prstGeom>
          <a:noFill/>
        </p:spPr>
        <p:txBody>
          <a:bodyPr wrap="square" lIns="9144" rIns="9144" tIns="9144" bIns="9144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40" b="1" i="0">
                <a:solidFill>
                  <a:srgbClr val="F4F7FB"/>
                </a:solidFill>
                <a:latin typeface="Aptos Mono"/>
              </a:rPr>
              <a:t>NEXT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123944" y="4407407"/>
            <a:ext cx="2532888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30" b="1" i="0">
                <a:solidFill>
                  <a:srgbClr val="F4F7FB"/>
                </a:solidFill>
                <a:latin typeface="Aptos Display"/>
              </a:rPr>
              <a:t>EXPAND THE SIGNAL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123944" y="4773168"/>
            <a:ext cx="2532888" cy="530352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A8B4C6"/>
                </a:solidFill>
                <a:latin typeface="Aptos"/>
              </a:rPr>
              <a:t>Provider adapters
OWASP / ATLAS mappings
Report + benchmark formats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150608" y="2971800"/>
            <a:ext cx="2971800" cy="1737360"/>
          </a:xfrm>
          <a:prstGeom prst="roundRect">
            <a:avLst/>
          </a:prstGeom>
          <a:solidFill>
            <a:srgbClr val="111B2B"/>
          </a:solidFill>
          <a:ln w="10160">
            <a:solidFill>
              <a:srgbClr val="9A8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150608" y="2971800"/>
            <a:ext cx="2971800" cy="109728"/>
          </a:xfrm>
          <a:prstGeom prst="rect">
            <a:avLst/>
          </a:prstGeom>
          <a:solidFill>
            <a:srgbClr val="9A8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7370064" y="3218688"/>
            <a:ext cx="676656" cy="237744"/>
          </a:xfrm>
          <a:prstGeom prst="roundRect">
            <a:avLst/>
          </a:prstGeom>
          <a:solidFill>
            <a:srgbClr val="101B2B"/>
          </a:solidFill>
          <a:ln w="10160">
            <a:solidFill>
              <a:srgbClr val="9A8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370064" y="3227832"/>
            <a:ext cx="676656" cy="201168"/>
          </a:xfrm>
          <a:prstGeom prst="rect">
            <a:avLst/>
          </a:prstGeom>
          <a:noFill/>
        </p:spPr>
        <p:txBody>
          <a:bodyPr wrap="square" lIns="9144" rIns="9144" tIns="9144" bIns="9144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40" b="1" i="0">
                <a:solidFill>
                  <a:srgbClr val="F4F7FB"/>
                </a:solidFill>
                <a:latin typeface="Aptos Mono"/>
              </a:rPr>
              <a:t>SCALE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370064" y="3630168"/>
            <a:ext cx="2532888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30" b="1" i="0">
                <a:solidFill>
                  <a:srgbClr val="F4F7FB"/>
                </a:solidFill>
                <a:latin typeface="Aptos Display"/>
              </a:rPr>
              <a:t>OPERATE WITH TRUST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370064" y="3995928"/>
            <a:ext cx="2532888" cy="530352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A8B4C6"/>
                </a:solidFill>
                <a:latin typeface="Aptos"/>
              </a:rPr>
              <a:t>SSO / MFA + collaboration
Multi-org evidence
Enterprise governance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511296" y="4736592"/>
            <a:ext cx="310896" cy="3200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66F4D0"/>
                </a:solidFill>
                <a:latin typeface="Aptos"/>
              </a:rPr>
              <a:t>→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757416" y="3950208"/>
            <a:ext cx="310896" cy="3200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5D9CFF"/>
                </a:solidFill>
                <a:latin typeface="Aptos"/>
              </a:rPr>
              <a:t>→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58368" y="2331720"/>
            <a:ext cx="10789920" cy="475488"/>
          </a:xfrm>
          <a:prstGeom prst="roundRect">
            <a:avLst/>
          </a:prstGeom>
          <a:solidFill>
            <a:srgbClr val="0C1B27"/>
          </a:solidFill>
          <a:ln w="10160">
            <a:solidFill>
              <a:srgbClr val="66F4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32688" y="2459736"/>
            <a:ext cx="297180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30" b="1" i="0" spc="55">
                <a:solidFill>
                  <a:srgbClr val="66F4D0"/>
                </a:solidFill>
                <a:latin typeface="Aptos Mono"/>
              </a:rPr>
              <a:t>THE MOAT IS NOT A PROMPT LIST.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078224" y="2414016"/>
            <a:ext cx="4114800" cy="2468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4F7FB"/>
                </a:solidFill>
                <a:latin typeface="Aptos Display"/>
              </a:rPr>
              <a:t>It is trustworthy evidence over time.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985248" y="2468880"/>
            <a:ext cx="114300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40" b="1" i="0">
                <a:solidFill>
                  <a:srgbClr val="66F4D0"/>
                </a:solidFill>
                <a:latin typeface="Aptos Mono"/>
              </a:rPr>
              <a:t>reviewable</a:t>
            </a:r>
          </a:p>
        </p:txBody>
      </p:sp>
      <p:sp>
        <p:nvSpPr>
          <p:cNvPr id="39" name="Oval 38"/>
          <p:cNvSpPr/>
          <p:nvPr/>
        </p:nvSpPr>
        <p:spPr>
          <a:xfrm>
            <a:off x="749808" y="5897880"/>
            <a:ext cx="201168" cy="201168"/>
          </a:xfrm>
          <a:prstGeom prst="ellipse">
            <a:avLst/>
          </a:prstGeom>
          <a:solidFill>
            <a:srgbClr val="66F4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49808" y="5888736"/>
            <a:ext cx="201168" cy="20116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070B13"/>
                </a:solidFill>
                <a:latin typeface="Aptos"/>
              </a:rPr>
              <a:t>✓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42415" y="5888736"/>
            <a:ext cx="3108960" cy="21945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F4F7FB"/>
                </a:solidFill>
                <a:latin typeface="Aptos"/>
              </a:rPr>
              <a:t>Focused MVP</a:t>
            </a:r>
          </a:p>
        </p:txBody>
      </p:sp>
      <p:sp>
        <p:nvSpPr>
          <p:cNvPr id="42" name="Oval 41"/>
          <p:cNvSpPr/>
          <p:nvPr/>
        </p:nvSpPr>
        <p:spPr>
          <a:xfrm>
            <a:off x="3538728" y="5897880"/>
            <a:ext cx="201168" cy="201168"/>
          </a:xfrm>
          <a:prstGeom prst="ellipse">
            <a:avLst/>
          </a:prstGeom>
          <a:solidFill>
            <a:srgbClr val="F7C8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3538728" y="5888736"/>
            <a:ext cx="201168" cy="20116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070B13"/>
                </a:solidFill>
                <a:latin typeface="Aptos"/>
              </a:rPr>
              <a:t>✓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831336" y="5888736"/>
            <a:ext cx="3108960" cy="21945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F4F7FB"/>
                </a:solidFill>
                <a:latin typeface="Aptos"/>
              </a:rPr>
              <a:t>Visible limits</a:t>
            </a:r>
          </a:p>
        </p:txBody>
      </p:sp>
      <p:sp>
        <p:nvSpPr>
          <p:cNvPr id="45" name="Oval 44"/>
          <p:cNvSpPr/>
          <p:nvPr/>
        </p:nvSpPr>
        <p:spPr>
          <a:xfrm>
            <a:off x="6327648" y="5897880"/>
            <a:ext cx="201168" cy="201168"/>
          </a:xfrm>
          <a:prstGeom prst="ellipse">
            <a:avLst/>
          </a:prstGeom>
          <a:solidFill>
            <a:srgbClr val="5D9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327648" y="5888736"/>
            <a:ext cx="201168" cy="20116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070B13"/>
                </a:solidFill>
                <a:latin typeface="Aptos"/>
              </a:rPr>
              <a:t>✓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620256" y="5888736"/>
            <a:ext cx="3108960" cy="21945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F4F7FB"/>
                </a:solidFill>
                <a:latin typeface="Aptos"/>
              </a:rPr>
              <a:t>Composable adapters</a:t>
            </a:r>
          </a:p>
        </p:txBody>
      </p:sp>
      <p:sp>
        <p:nvSpPr>
          <p:cNvPr id="48" name="Oval 47"/>
          <p:cNvSpPr/>
          <p:nvPr/>
        </p:nvSpPr>
        <p:spPr>
          <a:xfrm>
            <a:off x="9162288" y="5897880"/>
            <a:ext cx="201168" cy="201168"/>
          </a:xfrm>
          <a:prstGeom prst="ellipse">
            <a:avLst/>
          </a:prstGeom>
          <a:solidFill>
            <a:srgbClr val="9A8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9162288" y="5888736"/>
            <a:ext cx="201168" cy="20116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070B13"/>
                </a:solidFill>
                <a:latin typeface="Aptos"/>
              </a:rPr>
              <a:t>✓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454896" y="5888736"/>
            <a:ext cx="3108960" cy="21945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F4F7FB"/>
                </a:solidFill>
                <a:latin typeface="Aptos"/>
              </a:rPr>
              <a:t>Enterprise path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B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arena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B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B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856231" y="685800"/>
            <a:ext cx="8485632" cy="5349240"/>
          </a:xfrm>
          <a:prstGeom prst="roundRect">
            <a:avLst/>
          </a:prstGeom>
          <a:solidFill>
            <a:srgbClr val="0509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" name="Connector 6"/>
          <p:cNvCxnSpPr/>
          <p:nvPr/>
        </p:nvCxnSpPr>
        <p:spPr>
          <a:xfrm>
            <a:off x="3950208" y="1051560"/>
            <a:ext cx="4325112" cy="0"/>
          </a:xfrm>
          <a:prstGeom prst="line">
            <a:avLst/>
          </a:prstGeom>
          <a:ln w="21590">
            <a:solidFill>
              <a:srgbClr val="66F4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3950208" y="1325880"/>
            <a:ext cx="429768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80" b="1" i="0" spc="110">
                <a:solidFill>
                  <a:srgbClr val="66F4D0"/>
                </a:solidFill>
                <a:latin typeface="Aptos Mono"/>
              </a:rPr>
              <a:t>THE TAKEAWAY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331720" y="1865376"/>
            <a:ext cx="7543800" cy="12618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800" b="1" i="0" spc="-16">
                <a:solidFill>
                  <a:srgbClr val="F4F7FB"/>
                </a:solidFill>
                <a:latin typeface="Aptos Display"/>
              </a:rPr>
              <a:t>SECURE THE AI
BEFORE USERS FIND THE EDGE.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61688" y="3438144"/>
            <a:ext cx="1325880" cy="73152"/>
          </a:xfrm>
          <a:prstGeom prst="rect">
            <a:avLst/>
          </a:prstGeom>
          <a:solidFill>
            <a:srgbClr val="FF53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751576" y="3438144"/>
            <a:ext cx="1325880" cy="73152"/>
          </a:xfrm>
          <a:prstGeom prst="rect">
            <a:avLst/>
          </a:prstGeom>
          <a:solidFill>
            <a:srgbClr val="5D9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154680" y="3840480"/>
            <a:ext cx="5897880" cy="585216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A8B4C6"/>
                </a:solidFill>
                <a:latin typeface="Aptos"/>
              </a:rPr>
              <a:t>Bayora makes responsible AI security
testable, repeatable, and reviewable.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675887" y="4928616"/>
            <a:ext cx="1591056" cy="237744"/>
          </a:xfrm>
          <a:prstGeom prst="roundRect">
            <a:avLst/>
          </a:prstGeom>
          <a:solidFill>
            <a:srgbClr val="2A121B"/>
          </a:solidFill>
          <a:ln w="10160">
            <a:solidFill>
              <a:srgbClr val="FF53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75887" y="4937759"/>
            <a:ext cx="1591056" cy="201168"/>
          </a:xfrm>
          <a:prstGeom prst="rect">
            <a:avLst/>
          </a:prstGeom>
          <a:noFill/>
        </p:spPr>
        <p:txBody>
          <a:bodyPr wrap="square" lIns="9144" rIns="9144" tIns="9144" bIns="9144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F4F7FB"/>
                </a:solidFill>
                <a:latin typeface="Aptos Mono"/>
              </a:rPr>
              <a:t>ATTACK THE MODEL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504688" y="4928616"/>
            <a:ext cx="1865376" cy="237744"/>
          </a:xfrm>
          <a:prstGeom prst="roundRect">
            <a:avLst/>
          </a:prstGeom>
          <a:solidFill>
            <a:srgbClr val="0D2826"/>
          </a:solidFill>
          <a:ln w="10160">
            <a:solidFill>
              <a:srgbClr val="66F4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504688" y="4937759"/>
            <a:ext cx="1865376" cy="201168"/>
          </a:xfrm>
          <a:prstGeom prst="rect">
            <a:avLst/>
          </a:prstGeom>
          <a:noFill/>
        </p:spPr>
        <p:txBody>
          <a:bodyPr wrap="square" lIns="9144" rIns="9144" tIns="9144" bIns="9144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F4F7FB"/>
                </a:solidFill>
                <a:latin typeface="Aptos Mono"/>
              </a:rPr>
              <a:t>PROVE THE BOUNDARY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4944" y="6236208"/>
            <a:ext cx="128016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 i="0" spc="90">
                <a:solidFill>
                  <a:srgbClr val="F4F7FB"/>
                </a:solidFill>
                <a:latin typeface="Aptos Mono"/>
              </a:rPr>
              <a:t>BAYORA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12480" y="6236208"/>
            <a:ext cx="3127248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00" b="1" i="0" spc="45">
                <a:solidFill>
                  <a:srgbClr val="A8B4C6"/>
                </a:solidFill>
                <a:latin typeface="Aptos Mono"/>
              </a:rPr>
              <a:t>[TEAM NAME]  /  HACK IN HILLS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0" y="411480"/>
            <a:ext cx="548640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66F4D0"/>
                </a:solidFill>
                <a:latin typeface="Aptos Mono"/>
              </a:rPr>
              <a:t>09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